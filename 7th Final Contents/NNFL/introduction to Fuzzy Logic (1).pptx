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3" r:id="rId1"/>
  </p:sldMasterIdLst>
  <p:notesMasterIdLst>
    <p:notesMasterId r:id="rId67"/>
  </p:notesMasterIdLst>
  <p:sldIdLst>
    <p:sldId id="256" r:id="rId2"/>
    <p:sldId id="257" r:id="rId3"/>
    <p:sldId id="259" r:id="rId4"/>
    <p:sldId id="260" r:id="rId5"/>
    <p:sldId id="279" r:id="rId6"/>
    <p:sldId id="258" r:id="rId7"/>
    <p:sldId id="280" r:id="rId8"/>
    <p:sldId id="281" r:id="rId9"/>
    <p:sldId id="614" r:id="rId10"/>
    <p:sldId id="576" r:id="rId11"/>
    <p:sldId id="282" r:id="rId12"/>
    <p:sldId id="579" r:id="rId13"/>
    <p:sldId id="283" r:id="rId14"/>
    <p:sldId id="293" r:id="rId15"/>
    <p:sldId id="284" r:id="rId16"/>
    <p:sldId id="581" r:id="rId17"/>
    <p:sldId id="285" r:id="rId18"/>
    <p:sldId id="290" r:id="rId19"/>
    <p:sldId id="291" r:id="rId20"/>
    <p:sldId id="286" r:id="rId21"/>
    <p:sldId id="287" r:id="rId22"/>
    <p:sldId id="288" r:id="rId23"/>
    <p:sldId id="289" r:id="rId24"/>
    <p:sldId id="292" r:id="rId25"/>
    <p:sldId id="606" r:id="rId26"/>
    <p:sldId id="607" r:id="rId27"/>
    <p:sldId id="612" r:id="rId28"/>
    <p:sldId id="613" r:id="rId29"/>
    <p:sldId id="616" r:id="rId30"/>
    <p:sldId id="615" r:id="rId31"/>
    <p:sldId id="617" r:id="rId32"/>
    <p:sldId id="618" r:id="rId33"/>
    <p:sldId id="261" r:id="rId34"/>
    <p:sldId id="262" r:id="rId35"/>
    <p:sldId id="263" r:id="rId36"/>
    <p:sldId id="264" r:id="rId37"/>
    <p:sldId id="265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619" r:id="rId49"/>
    <p:sldId id="620" r:id="rId50"/>
    <p:sldId id="621" r:id="rId51"/>
    <p:sldId id="622" r:id="rId52"/>
    <p:sldId id="623" r:id="rId53"/>
    <p:sldId id="624" r:id="rId54"/>
    <p:sldId id="625" r:id="rId55"/>
    <p:sldId id="626" r:id="rId56"/>
    <p:sldId id="627" r:id="rId57"/>
    <p:sldId id="628" r:id="rId58"/>
    <p:sldId id="629" r:id="rId59"/>
    <p:sldId id="630" r:id="rId60"/>
    <p:sldId id="631" r:id="rId61"/>
    <p:sldId id="632" r:id="rId62"/>
    <p:sldId id="633" r:id="rId63"/>
    <p:sldId id="634" r:id="rId64"/>
    <p:sldId id="635" r:id="rId65"/>
    <p:sldId id="636" r:id="rId66"/>
  </p:sldIdLst>
  <p:sldSz cx="9144000" cy="6858000" type="screen4x3"/>
  <p:notesSz cx="7559675" cy="10691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6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74D0E-3E86-46B0-8447-CF7279B36FA1}" type="datetimeFigureOut">
              <a:rPr lang="en-US" smtClean="0"/>
              <a:t>13-Jul-24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1E752-2B92-4514-8C12-4AFA302F0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2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1E752-2B92-4514-8C12-4AFA302F01C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32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A3C7F4F6-E0AF-0B91-05A8-1464AF1057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523D4BF-5E83-43B0-9821-BAD2359BD30C}" type="slidenum">
              <a:rPr kumimoji="1" lang="en-US" altLang="zh-TW">
                <a:latin typeface="Arial" panose="020B0604020202020204" pitchFamily="34" charset="0"/>
              </a:rPr>
              <a:pPr/>
              <a:t>35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B351D18-ACAC-DAF2-665F-B3D360FCC8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B5BF5F57-D663-FE5F-F043-F676A8121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投影片圖像版面配置區 1">
            <a:extLst>
              <a:ext uri="{FF2B5EF4-FFF2-40B4-BE49-F238E27FC236}">
                <a16:creationId xmlns:a16="http://schemas.microsoft.com/office/drawing/2014/main" id="{C482780B-8B23-4DE2-7762-0263FA3C0E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備忘稿版面配置區 2">
            <a:extLst>
              <a:ext uri="{FF2B5EF4-FFF2-40B4-BE49-F238E27FC236}">
                <a16:creationId xmlns:a16="http://schemas.microsoft.com/office/drawing/2014/main" id="{C41BADA6-4F25-B27C-1685-D87DC4EEB2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en-US"/>
          </a:p>
        </p:txBody>
      </p:sp>
      <p:sp>
        <p:nvSpPr>
          <p:cNvPr id="74756" name="投影片編號版面配置區 3">
            <a:extLst>
              <a:ext uri="{FF2B5EF4-FFF2-40B4-BE49-F238E27FC236}">
                <a16:creationId xmlns:a16="http://schemas.microsoft.com/office/drawing/2014/main" id="{55663B0E-EBC6-7FD2-2CE0-DBA787B8C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FF3E5B2-E094-4F3A-B22C-B1AFF38D853F}" type="slidenum">
              <a:rPr kumimoji="1" lang="en-US" altLang="zh-TW">
                <a:latin typeface="Arial" panose="020B0604020202020204" pitchFamily="34" charset="0"/>
              </a:rPr>
              <a:pPr/>
              <a:t>54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65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402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47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28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7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345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61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4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33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574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110" y="1604520"/>
            <a:ext cx="822933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lnSpc>
                <a:spcPct val="90000"/>
              </a:lnSpc>
              <a:spcBef>
                <a:spcPts val="1063"/>
              </a:spcBef>
              <a:buNone/>
              <a:defRPr/>
            </a:lvl1pPr>
          </a:lstStyle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1967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3CEF4-08EE-5743-BC1F-545739E8EB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D25C9-ECD5-4832-9441-4BC2255200CD}" type="datetime1">
              <a:rPr lang="zh-TW" altLang="en-US"/>
              <a:pPr>
                <a:defRPr/>
              </a:pPr>
              <a:t>2024/7/13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1E1E6-8500-3108-4102-0BC929BE1A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D71B4-8DE2-C43F-54A5-37BCEEC9AA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A6750F-58A8-415D-9678-34B7122E014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smtClean="0"/>
              <a:t>13-Jul-24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43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3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oleObject" Target="../embeddings/oleObject13.bin"/><Relationship Id="rId3" Type="http://schemas.openxmlformats.org/officeDocument/2006/relationships/image" Target="../media/image41.png"/><Relationship Id="rId7" Type="http://schemas.openxmlformats.org/officeDocument/2006/relationships/image" Target="../media/image43.wmf"/><Relationship Id="rId12" Type="http://schemas.openxmlformats.org/officeDocument/2006/relationships/image" Target="../media/image45.w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2.bin"/><Relationship Id="rId5" Type="http://schemas.openxmlformats.org/officeDocument/2006/relationships/image" Target="../media/image42.wmf"/><Relationship Id="rId10" Type="http://schemas.openxmlformats.org/officeDocument/2006/relationships/image" Target="../media/image44.wmf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wmf"/><Relationship Id="rId4" Type="http://schemas.openxmlformats.org/officeDocument/2006/relationships/oleObject" Target="../embeddings/oleObject1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wmf"/><Relationship Id="rId4" Type="http://schemas.openxmlformats.org/officeDocument/2006/relationships/oleObject" Target="../embeddings/oleObject17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22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24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71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5.png"/><Relationship Id="rId4" Type="http://schemas.openxmlformats.org/officeDocument/2006/relationships/image" Target="../media/image71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5.png"/><Relationship Id="rId4" Type="http://schemas.openxmlformats.org/officeDocument/2006/relationships/image" Target="../media/image71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Shape 1"/>
          <p:cNvSpPr/>
          <p:nvPr/>
        </p:nvSpPr>
        <p:spPr>
          <a:xfrm>
            <a:off x="1185602" y="893413"/>
            <a:ext cx="7384781" cy="7481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000" spc="-1" dirty="0">
                <a:latin typeface="Arial"/>
              </a:rPr>
              <a:t>Introduction to Fuzzy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D5B65-0503-C2E2-4A06-0184CCE3CBFB}"/>
              </a:ext>
            </a:extLst>
          </p:cNvPr>
          <p:cNvSpPr txBox="1"/>
          <p:nvPr/>
        </p:nvSpPr>
        <p:spPr>
          <a:xfrm>
            <a:off x="698499" y="2978878"/>
            <a:ext cx="76410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b="1" spc="225" dirty="0">
                <a:latin typeface="+mj-lt"/>
                <a:cs typeface="Times New Roman" pitchFamily="18" charset="0"/>
              </a:rPr>
              <a:t>MD Tamim Hossain</a:t>
            </a:r>
          </a:p>
          <a:p>
            <a:pPr algn="ctr">
              <a:defRPr/>
            </a:pPr>
            <a:r>
              <a:rPr lang="en-US" sz="1600" spc="225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itchFamily="18" charset="0"/>
              </a:rPr>
              <a:t>Lecturer</a:t>
            </a:r>
          </a:p>
          <a:p>
            <a:pPr algn="ctr">
              <a:defRPr/>
            </a:pPr>
            <a:r>
              <a:rPr lang="en-US" sz="1600" spc="225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itchFamily="18" charset="0"/>
              </a:rPr>
              <a:t>Department of Computer Science and Engineering</a:t>
            </a:r>
          </a:p>
          <a:p>
            <a:pPr algn="ctr">
              <a:defRPr/>
            </a:pPr>
            <a:r>
              <a:rPr lang="en-US" sz="1600" spc="225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itchFamily="18" charset="0"/>
              </a:rPr>
              <a:t>Premier University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9A23F2-F6BC-7525-1E1C-4C3A4C42555A}"/>
              </a:ext>
            </a:extLst>
          </p:cNvPr>
          <p:cNvSpPr txBox="1"/>
          <p:nvPr/>
        </p:nvSpPr>
        <p:spPr>
          <a:xfrm>
            <a:off x="3146577" y="2239741"/>
            <a:ext cx="285084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CSE451:Neural Network &amp; Fuzzy Logic</a:t>
            </a:r>
          </a:p>
          <a:p>
            <a:pPr algn="ctr"/>
            <a:r>
              <a:rPr lang="en-US" sz="135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0E532-5DCF-FC0F-7977-106D13848457}"/>
              </a:ext>
            </a:extLst>
          </p:cNvPr>
          <p:cNvSpPr txBox="1"/>
          <p:nvPr/>
        </p:nvSpPr>
        <p:spPr>
          <a:xfrm>
            <a:off x="698499" y="4500409"/>
            <a:ext cx="77470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“A positive attitude is something everyone can work on, and everyone can learn how to employ it.”</a:t>
            </a:r>
          </a:p>
          <a:p>
            <a:pPr algn="ctr"/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Joan </a:t>
            </a:r>
            <a:r>
              <a:rPr lang="en-GB" sz="1500" b="1" dirty="0" err="1">
                <a:latin typeface="Calibri" panose="020F0502020204030204" pitchFamily="34" charset="0"/>
                <a:cs typeface="Calibri" panose="020F0502020204030204" pitchFamily="34" charset="0"/>
              </a:rPr>
              <a:t>Lunden</a:t>
            </a:r>
            <a:endParaRPr lang="en-GB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7ED8F-C857-2D64-C6A2-5EE3DFB6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Logic/ Traditional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A720B-1B7A-C801-5C4F-FEE6BE18F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80903"/>
            <a:ext cx="754380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Boolean Logic operates based on binary values: 0 (false) and 1 (true)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800" dirty="0"/>
          </a:p>
          <a:p>
            <a:pPr marL="0" indent="0">
              <a:buNone/>
            </a:pPr>
            <a:endParaRPr lang="en-GB" sz="2800" dirty="0"/>
          </a:p>
        </p:txBody>
      </p:sp>
      <p:pic>
        <p:nvPicPr>
          <p:cNvPr id="1026" name="Picture 2" descr="Introduction to Fuzzy Logic. Sometimes, when making an app or… | by Daniel  Sioson | Medium">
            <a:extLst>
              <a:ext uri="{FF2B5EF4-FFF2-40B4-BE49-F238E27FC236}">
                <a16:creationId xmlns:a16="http://schemas.microsoft.com/office/drawing/2014/main" id="{F108EF64-9066-CE3F-B289-CC8612B587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92"/>
          <a:stretch/>
        </p:blipFill>
        <p:spPr bwMode="auto">
          <a:xfrm>
            <a:off x="1685091" y="3493477"/>
            <a:ext cx="5773818" cy="163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721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F331-4B96-EF24-78CB-2C6A3F451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(crisp)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7DE0-B195-C731-30A3-D510DA3C3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6093" y="1961499"/>
            <a:ext cx="2505363" cy="5340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02275-3100-BCF8-1CB5-34163A369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156" y="2513012"/>
            <a:ext cx="2527300" cy="184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9BF1C4-ABDF-648A-701A-62A6376DE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356" y="2495550"/>
            <a:ext cx="2630488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50034A-1CE5-A61C-B262-6EBEA484C8B1}"/>
              </a:ext>
            </a:extLst>
          </p:cNvPr>
          <p:cNvSpPr txBox="1"/>
          <p:nvPr/>
        </p:nvSpPr>
        <p:spPr>
          <a:xfrm>
            <a:off x="5624729" y="1972330"/>
            <a:ext cx="1423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Not RED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413527-995D-AFCD-B883-47C792028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525" y="4483529"/>
            <a:ext cx="1708150" cy="159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80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F331-4B96-EF24-78CB-2C6A3F451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(crisp)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7DE0-B195-C731-30A3-D510DA3C3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94" y="2047225"/>
            <a:ext cx="4038599" cy="53405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What about this rose?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364103-1567-4894-7497-AFB64250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193" y="2581276"/>
            <a:ext cx="40386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22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7">
            <a:extLst>
              <a:ext uri="{FF2B5EF4-FFF2-40B4-BE49-F238E27FC236}">
                <a16:creationId xmlns:a16="http://schemas.microsoft.com/office/drawing/2014/main" id="{5A6E74BE-29B8-9C4B-9280-84C65BEED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879" y="2241188"/>
            <a:ext cx="1519238" cy="314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16">
            <a:extLst>
              <a:ext uri="{FF2B5EF4-FFF2-40B4-BE49-F238E27FC236}">
                <a16:creationId xmlns:a16="http://schemas.microsoft.com/office/drawing/2014/main" id="{DFCD600C-03D1-5D1A-ECB4-C316EAA19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442" y="2342788"/>
            <a:ext cx="1519237" cy="304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15">
            <a:extLst>
              <a:ext uri="{FF2B5EF4-FFF2-40B4-BE49-F238E27FC236}">
                <a16:creationId xmlns:a16="http://schemas.microsoft.com/office/drawing/2014/main" id="{2F6D2026-AFC5-8575-3CE5-8EBAC1785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004" y="2444388"/>
            <a:ext cx="1519238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14">
            <a:extLst>
              <a:ext uri="{FF2B5EF4-FFF2-40B4-BE49-F238E27FC236}">
                <a16:creationId xmlns:a16="http://schemas.microsoft.com/office/drawing/2014/main" id="{6428907A-05A0-F53C-DD1C-378701801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979" y="2533288"/>
            <a:ext cx="1519238" cy="285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11">
            <a:extLst>
              <a:ext uri="{FF2B5EF4-FFF2-40B4-BE49-F238E27FC236}">
                <a16:creationId xmlns:a16="http://schemas.microsoft.com/office/drawing/2014/main" id="{2DB51F2F-F1FD-53D9-7923-6777E1D71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079" y="2609488"/>
            <a:ext cx="1519238" cy="278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10">
            <a:extLst>
              <a:ext uri="{FF2B5EF4-FFF2-40B4-BE49-F238E27FC236}">
                <a16:creationId xmlns:a16="http://schemas.microsoft.com/office/drawing/2014/main" id="{03CB3794-F194-2FFC-B763-14D427120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642" y="2698388"/>
            <a:ext cx="1519237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9">
            <a:extLst>
              <a:ext uri="{FF2B5EF4-FFF2-40B4-BE49-F238E27FC236}">
                <a16:creationId xmlns:a16="http://schemas.microsoft.com/office/drawing/2014/main" id="{08F1D18C-0C4D-BC38-D6E0-7BBB1B3FD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204" y="2774588"/>
            <a:ext cx="1519238" cy="262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9" name="Line 2">
            <a:extLst>
              <a:ext uri="{FF2B5EF4-FFF2-40B4-BE49-F238E27FC236}">
                <a16:creationId xmlns:a16="http://schemas.microsoft.com/office/drawing/2014/main" id="{F7AEAAEF-AC6C-8FA8-E885-C36743B88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463" y="6332538"/>
            <a:ext cx="772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Rectangle 4">
            <a:extLst>
              <a:ext uri="{FF2B5EF4-FFF2-40B4-BE49-F238E27FC236}">
                <a16:creationId xmlns:a16="http://schemas.microsoft.com/office/drawing/2014/main" id="{2D666D2E-4638-A6F7-7C09-FCB729D8B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13329" y="5605100"/>
            <a:ext cx="4953000" cy="828675"/>
          </a:xfrm>
          <a:noFill/>
        </p:spPr>
        <p:txBody>
          <a:bodyPr/>
          <a:lstStyle/>
          <a:p>
            <a:pPr marL="292100" indent="0" algn="ctr">
              <a:buFontTx/>
              <a:buNone/>
            </a:pPr>
            <a:r>
              <a:rPr lang="en-US" altLang="en-US" sz="3200" dirty="0">
                <a:solidFill>
                  <a:schemeClr val="accent2"/>
                </a:solidFill>
              </a:rPr>
              <a:t>Where do tall people start?</a:t>
            </a:r>
          </a:p>
          <a:p>
            <a:pPr marL="292100" indent="0"/>
            <a:endParaRPr lang="en-US" altLang="en-US" dirty="0"/>
          </a:p>
          <a:p>
            <a:pPr marL="292100" indent="0">
              <a:buFontTx/>
              <a:buNone/>
            </a:pPr>
            <a:endParaRPr lang="en-US" altLang="en-US" dirty="0"/>
          </a:p>
        </p:txBody>
      </p:sp>
      <p:pic>
        <p:nvPicPr>
          <p:cNvPr id="10251" name="Picture 5">
            <a:extLst>
              <a:ext uri="{FF2B5EF4-FFF2-40B4-BE49-F238E27FC236}">
                <a16:creationId xmlns:a16="http://schemas.microsoft.com/office/drawing/2014/main" id="{CC11F0AB-D38B-E08E-66F1-D7B83AD00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179" y="2825388"/>
            <a:ext cx="1519238" cy="257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2" name="AutoShape 19">
            <a:extLst>
              <a:ext uri="{FF2B5EF4-FFF2-40B4-BE49-F238E27FC236}">
                <a16:creationId xmlns:a16="http://schemas.microsoft.com/office/drawing/2014/main" id="{38193051-338B-D505-9C02-E6203319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354" y="995000"/>
            <a:ext cx="1346200" cy="1181100"/>
          </a:xfrm>
          <a:prstGeom prst="downArrowCallout">
            <a:avLst>
              <a:gd name="adj1" fmla="val 28495"/>
              <a:gd name="adj2" fmla="val 28495"/>
              <a:gd name="adj3" fmla="val 16667"/>
              <a:gd name="adj4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solidFill>
                  <a:srgbClr val="000000"/>
                </a:solidFill>
                <a:latin typeface="Times" panose="02020603050405020304" pitchFamily="18" charset="0"/>
              </a:rPr>
              <a:t>A tall guy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342A6-D215-3715-CEEA-8DCC19E8F7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42036A9-E191-46C5-8629-3914EB5979A8}" type="datetime3">
              <a:rPr lang="en-US" altLang="en-US"/>
              <a:pPr>
                <a:defRPr/>
              </a:pPr>
              <a:t>13 July 2024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CDAB2-CBBC-E4E1-4923-9A3CD6852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CSE 4109: Artificial Intelligence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BFF99-8A0D-F3B6-9D01-DD05414AA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6B8713-969F-4A41-A530-8B45BDCD9A0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005E-7DDF-3510-7A7C-2C553803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DCC7-3CA1-3AFC-36BE-FE2338E21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Unlike two-valued Boolean logic, fuzzy logic is multi-valued. It deals with degrees of membership and degrees of truth.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Fuzzy logic is a superset of conventional (Boolean) logic that has been extended to handle the concept of </a:t>
            </a:r>
            <a:r>
              <a:rPr lang="en-GB" sz="2800" b="1" dirty="0">
                <a:solidFill>
                  <a:schemeClr val="accent2"/>
                </a:solidFill>
              </a:rPr>
              <a:t>partial truth </a:t>
            </a:r>
            <a:r>
              <a:rPr lang="en-GB" sz="2800" dirty="0"/>
              <a:t>-- truth values between "completely true" and "completely false".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Represent </a:t>
            </a:r>
            <a:r>
              <a:rPr lang="en-GB" sz="2800" dirty="0" err="1"/>
              <a:t>Uncertainity</a:t>
            </a:r>
            <a:endParaRPr lang="en-GB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Many degree of membership is possible</a:t>
            </a:r>
          </a:p>
          <a:p>
            <a:pPr marL="0" indent="0">
              <a:buNone/>
            </a:pPr>
            <a:endParaRPr lang="en-GB" sz="2800" dirty="0"/>
          </a:p>
          <a:p>
            <a:pPr>
              <a:buFont typeface="Wingdings" panose="05000000000000000000" pitchFamily="2" charset="2"/>
              <a:buChar char="Ø"/>
            </a:pPr>
            <a:endParaRPr lang="en-GB" sz="2800" dirty="0"/>
          </a:p>
          <a:p>
            <a:pPr>
              <a:buFont typeface="Wingdings" panose="05000000000000000000" pitchFamily="2" charset="2"/>
              <a:buChar char="Ø"/>
            </a:pPr>
            <a:endParaRPr lang="en-GB" sz="2800" dirty="0"/>
          </a:p>
          <a:p>
            <a:pPr>
              <a:buFont typeface="Wingdings" panose="05000000000000000000" pitchFamily="2" charset="2"/>
              <a:buChar char="Ø"/>
            </a:pPr>
            <a:endParaRPr lang="en-GB" sz="2800" dirty="0"/>
          </a:p>
          <a:p>
            <a:pPr marL="0" indent="0">
              <a:buNone/>
            </a:pPr>
            <a:endParaRPr lang="en-GB" sz="2800" dirty="0"/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7679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4E00-D465-D291-49D0-E082148A5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Crisp Logic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9A9670-781A-5C78-BEE6-E22A664ED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5484"/>
          <a:stretch/>
        </p:blipFill>
        <p:spPr>
          <a:xfrm>
            <a:off x="4594860" y="2414955"/>
            <a:ext cx="4148820" cy="3092547"/>
          </a:xfrm>
        </p:spPr>
      </p:pic>
      <p:pic>
        <p:nvPicPr>
          <p:cNvPr id="2050" name="Picture 2" descr="Difference between Crisp and Fuzzy Sets. | Download Scientific Diagram">
            <a:extLst>
              <a:ext uri="{FF2B5EF4-FFF2-40B4-BE49-F238E27FC236}">
                <a16:creationId xmlns:a16="http://schemas.microsoft.com/office/drawing/2014/main" id="{BF8D2E76-0DE1-4221-2BD5-E39638E8FB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048"/>
          <a:stretch/>
        </p:blipFill>
        <p:spPr bwMode="auto">
          <a:xfrm>
            <a:off x="1137138" y="2846117"/>
            <a:ext cx="2983423" cy="2566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D55729-7ED7-11AA-1BEC-68FA974BEFDE}"/>
              </a:ext>
            </a:extLst>
          </p:cNvPr>
          <p:cNvSpPr txBox="1"/>
          <p:nvPr/>
        </p:nvSpPr>
        <p:spPr>
          <a:xfrm>
            <a:off x="3741357" y="2844225"/>
            <a:ext cx="853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66D28-F9E1-709E-294D-8B740955DDD5}"/>
              </a:ext>
            </a:extLst>
          </p:cNvPr>
          <p:cNvSpPr txBox="1"/>
          <p:nvPr/>
        </p:nvSpPr>
        <p:spPr>
          <a:xfrm>
            <a:off x="1137138" y="5120640"/>
            <a:ext cx="976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20848-625D-ABCF-59B5-DA34248F03AD}"/>
              </a:ext>
            </a:extLst>
          </p:cNvPr>
          <p:cNvSpPr txBox="1"/>
          <p:nvPr/>
        </p:nvSpPr>
        <p:spPr>
          <a:xfrm>
            <a:off x="2450596" y="5012629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4099762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4575-12F0-6655-D985-65BB83D3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Set</a:t>
            </a:r>
          </a:p>
        </p:txBody>
      </p:sp>
      <p:pic>
        <p:nvPicPr>
          <p:cNvPr id="6" name="Picture 2" descr="Difference between Crisp and Fuzzy Sets. | Download Scientific Diagram">
            <a:extLst>
              <a:ext uri="{FF2B5EF4-FFF2-40B4-BE49-F238E27FC236}">
                <a16:creationId xmlns:a16="http://schemas.microsoft.com/office/drawing/2014/main" id="{BFD01726-C032-32AE-FD47-57230A6CD5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1"/>
          <a:stretch/>
        </p:blipFill>
        <p:spPr bwMode="auto">
          <a:xfrm>
            <a:off x="1335843" y="2330301"/>
            <a:ext cx="6518031" cy="2566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01B463-B9F5-A16A-1C9E-D1BE2A29D507}"/>
              </a:ext>
            </a:extLst>
          </p:cNvPr>
          <p:cNvSpPr txBox="1"/>
          <p:nvPr/>
        </p:nvSpPr>
        <p:spPr>
          <a:xfrm>
            <a:off x="3858001" y="2328409"/>
            <a:ext cx="853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Fast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A7A89F-DE78-6138-79F0-1C81D9EBB3DD}"/>
              </a:ext>
            </a:extLst>
          </p:cNvPr>
          <p:cNvSpPr txBox="1"/>
          <p:nvPr/>
        </p:nvSpPr>
        <p:spPr>
          <a:xfrm>
            <a:off x="1335843" y="4606716"/>
            <a:ext cx="976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981A76-346C-FA32-D5C8-417921B6DBB7}"/>
              </a:ext>
            </a:extLst>
          </p:cNvPr>
          <p:cNvSpPr txBox="1"/>
          <p:nvPr/>
        </p:nvSpPr>
        <p:spPr>
          <a:xfrm>
            <a:off x="2649301" y="4498705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515912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C85B4-CDBE-B18D-4213-1E1180B35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Difference between Fuzzy and Crisp Set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A7E492-73C5-A750-4FF5-E7766FD33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818770"/>
              </p:ext>
            </p:extLst>
          </p:nvPr>
        </p:nvGraphicFramePr>
        <p:xfrm>
          <a:off x="822325" y="1846263"/>
          <a:ext cx="7543800" cy="321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900">
                  <a:extLst>
                    <a:ext uri="{9D8B030D-6E8A-4147-A177-3AD203B41FA5}">
                      <a16:colId xmlns:a16="http://schemas.microsoft.com/office/drawing/2014/main" val="743093146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3764222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Crisp 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Fuzzy Set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893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Crisp set defines the value is either 0 or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Fuzzy set defines the value between 0 and 1 including both 0 and 1.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619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2"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also called a classical set.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2"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specifies the degree to which something is true.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105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3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shows full membership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3"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shows partial membership.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414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Eg1. She is 18 years old.</a:t>
                      </a:r>
                    </a:p>
                    <a:p>
                      <a:pPr algn="ctr" fontAlgn="base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Eg2. Rahul is 1.6m tall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Eg1. She is about 18 years old.</a:t>
                      </a:r>
                    </a:p>
                    <a:p>
                      <a:pPr algn="ctr" fontAlgn="base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Eg2. Rahul is about 1.6m tall.  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020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182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43D1-DAC5-4ADC-B57D-A53C86E1663A}" type="slidenum">
              <a:rPr lang="en-GB" altLang="en-US"/>
              <a:pPr/>
              <a:t>10</a:t>
            </a:fld>
            <a:endParaRPr lang="en-GB" altLang="en-US"/>
          </a:p>
        </p:txBody>
      </p:sp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Crisp vs. Fuzzy Sets</a:t>
            </a:r>
          </a:p>
        </p:txBody>
      </p:sp>
      <p:graphicFrame>
        <p:nvGraphicFramePr>
          <p:cNvPr id="336900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7703034"/>
              </p:ext>
            </p:extLst>
          </p:nvPr>
        </p:nvGraphicFramePr>
        <p:xfrm>
          <a:off x="2573216" y="2695670"/>
          <a:ext cx="3757246" cy="3359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098880" imgH="2770560" progId="Word.Picture.8">
                  <p:embed/>
                </p:oleObj>
              </mc:Choice>
              <mc:Fallback>
                <p:oleObj name="Picture" r:id="rId2" imgW="3098880" imgH="2770560" progId="Word.Picture.8">
                  <p:embed/>
                  <p:pic>
                    <p:nvPicPr>
                      <p:cNvPr id="3369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216" y="2695670"/>
                        <a:ext cx="3757246" cy="3359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975360" y="1921050"/>
                <a:ext cx="7239000" cy="5909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dirty="0"/>
                  <a:t>Categorization of elements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/>
                  <a:t> into a set S</a:t>
                </a:r>
              </a:p>
              <a:p>
                <a:pPr marL="285750" indent="-28575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dirty="0"/>
                  <a:t>Described through a membership function m(s)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" y="1921050"/>
                <a:ext cx="7239000" cy="590931"/>
              </a:xfrm>
              <a:prstGeom prst="rect">
                <a:avLst/>
              </a:prstGeom>
              <a:blipFill>
                <a:blip r:embed="rId4"/>
                <a:stretch>
                  <a:fillRect l="-505" t="-9278" b="-1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50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275C4-A1E6-8EA0-D9B7-A87F9C97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BBF93-2376-3A2C-3A0F-461F50B7D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Classical sets contain objects that satisfy precise properties of membership;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For crisp sets (</a:t>
            </a:r>
            <a:r>
              <a:rPr lang="en-GB" sz="2800" dirty="0" err="1"/>
              <a:t>Himpunan</a:t>
            </a:r>
            <a:r>
              <a:rPr lang="en-GB" sz="2800" dirty="0"/>
              <a:t> </a:t>
            </a:r>
            <a:r>
              <a:rPr lang="en-GB" sz="2800" dirty="0" err="1"/>
              <a:t>klasik</a:t>
            </a:r>
            <a:r>
              <a:rPr lang="en-GB" sz="2800" dirty="0"/>
              <a:t>) an element x in the universe X is either a member of some crisp set A or not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53304-89B0-6A24-0E17-5A666391B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4131" y="4410808"/>
            <a:ext cx="39957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32591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248C-AA0D-433D-A1F0-040D9FDBDCC8}" type="slidenum">
              <a:rPr lang="en-GB" altLang="en-US"/>
              <a:pPr/>
              <a:t>12</a:t>
            </a:fld>
            <a:endParaRPr lang="en-GB" altLang="en-US"/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Fuzzy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406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GB" altLang="en-US" sz="2800" dirty="0"/>
                  <a:t>Fuzzy set A of universe X: </a:t>
                </a:r>
                <a:r>
                  <a:rPr lang="en-GB" altLang="en-US" sz="2800" b="1" dirty="0"/>
                  <a:t>the membership function </a:t>
                </a:r>
                <a:r>
                  <a:rPr lang="en-US" altLang="en-US" sz="2800" b="1" i="1" dirty="0">
                    <a:cs typeface="Times New Roman" panose="02020603050405020304" pitchFamily="18" charset="0"/>
                  </a:rPr>
                  <a:t>µ</a:t>
                </a:r>
                <a:r>
                  <a:rPr lang="en-GB" altLang="en-US" sz="2800" b="1" i="1" baseline="-25000" dirty="0"/>
                  <a:t>A</a:t>
                </a:r>
                <a:r>
                  <a:rPr lang="en-GB" altLang="en-US" sz="2800" b="1" dirty="0"/>
                  <a:t>(</a:t>
                </a:r>
                <a:r>
                  <a:rPr lang="en-GB" altLang="en-US" sz="2800" b="1" i="1" dirty="0"/>
                  <a:t>x</a:t>
                </a:r>
                <a:r>
                  <a:rPr lang="en-GB" altLang="en-US" sz="2800" b="1" dirty="0"/>
                  <a:t>)</a:t>
                </a:r>
              </a:p>
              <a:p>
                <a:pPr>
                  <a:lnSpc>
                    <a:spcPct val="90000"/>
                  </a:lnSpc>
                </a:pPr>
                <a:endParaRPr lang="en-GB" altLang="en-US" sz="2800" dirty="0"/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GB" altLang="en-US" sz="1800" dirty="0"/>
                  <a:t>	</a:t>
                </a:r>
                <a:r>
                  <a:rPr lang="en-US" altLang="en-US" sz="2000" i="1" dirty="0">
                    <a:cs typeface="Times New Roman" panose="02020603050405020304" pitchFamily="18" charset="0"/>
                  </a:rPr>
                  <a:t>µ</a:t>
                </a:r>
                <a:r>
                  <a:rPr lang="en-GB" altLang="en-US" sz="2000" i="1" baseline="-25000" dirty="0"/>
                  <a:t>A</a:t>
                </a:r>
                <a:r>
                  <a:rPr lang="en-GB" altLang="en-US" sz="2000" dirty="0"/>
                  <a:t>(</a:t>
                </a:r>
                <a:r>
                  <a:rPr lang="en-GB" altLang="en-US" sz="2000" i="1" dirty="0"/>
                  <a:t>x</a:t>
                </a:r>
                <a:r>
                  <a:rPr lang="en-GB" altLang="en-US" sz="2000" dirty="0"/>
                  <a:t>) : X </a:t>
                </a:r>
                <a:r>
                  <a:rPr lang="en-GB" altLang="en-US" sz="2000" dirty="0">
                    <a:sym typeface="Wingdings" panose="05000000000000000000" pitchFamily="2" charset="2"/>
                  </a:rPr>
                  <a:t></a:t>
                </a:r>
                <a:r>
                  <a:rPr lang="en-GB" altLang="en-US" sz="2000" dirty="0"/>
                  <a:t> [0, 1],     where	</a:t>
                </a:r>
                <a:r>
                  <a:rPr lang="en-US" altLang="en-US" sz="2000" i="1" dirty="0">
                    <a:cs typeface="Times New Roman" panose="02020603050405020304" pitchFamily="18" charset="0"/>
                  </a:rPr>
                  <a:t>µ</a:t>
                </a:r>
                <a:r>
                  <a:rPr lang="en-GB" altLang="en-US" sz="2000" i="1" baseline="-25000" dirty="0"/>
                  <a:t>A</a:t>
                </a:r>
                <a:r>
                  <a:rPr lang="en-GB" altLang="en-US" sz="2000" dirty="0"/>
                  <a:t>(</a:t>
                </a:r>
                <a:r>
                  <a:rPr lang="en-GB" altLang="en-US" sz="2000" i="1" dirty="0"/>
                  <a:t>x</a:t>
                </a:r>
                <a:r>
                  <a:rPr lang="en-GB" altLang="en-US" sz="2000" dirty="0"/>
                  <a:t>) = 1 if x is totally in A;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GB" altLang="en-US" sz="2000" dirty="0"/>
                  <a:t>					</a:t>
                </a:r>
                <a:r>
                  <a:rPr lang="en-US" altLang="en-US" sz="2000" i="1" dirty="0">
                    <a:cs typeface="Times New Roman" panose="02020603050405020304" pitchFamily="18" charset="0"/>
                  </a:rPr>
                  <a:t>µ</a:t>
                </a:r>
                <a:r>
                  <a:rPr lang="en-GB" altLang="en-US" sz="2000" i="1" baseline="-25000" dirty="0"/>
                  <a:t>A</a:t>
                </a:r>
                <a:r>
                  <a:rPr lang="en-GB" altLang="en-US" sz="2000" dirty="0"/>
                  <a:t>(</a:t>
                </a:r>
                <a:r>
                  <a:rPr lang="en-GB" altLang="en-US" sz="2000" i="1" dirty="0"/>
                  <a:t>x</a:t>
                </a:r>
                <a:r>
                  <a:rPr lang="en-GB" altLang="en-US" sz="2000" dirty="0"/>
                  <a:t>) = 0 if x is not in A;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GB" altLang="en-US" sz="2000" dirty="0"/>
                  <a:t>					0 &lt; </a:t>
                </a:r>
                <a:r>
                  <a:rPr lang="en-US" altLang="en-US" sz="2000" i="1" dirty="0">
                    <a:cs typeface="Times New Roman" panose="02020603050405020304" pitchFamily="18" charset="0"/>
                  </a:rPr>
                  <a:t>µ</a:t>
                </a:r>
                <a:r>
                  <a:rPr lang="en-GB" altLang="en-US" sz="2000" i="1" baseline="-25000" dirty="0"/>
                  <a:t>A</a:t>
                </a:r>
                <a:r>
                  <a:rPr lang="en-GB" altLang="en-US" sz="2000" dirty="0"/>
                  <a:t>(</a:t>
                </a:r>
                <a:r>
                  <a:rPr lang="en-GB" altLang="en-US" sz="2000" i="1" dirty="0"/>
                  <a:t>x</a:t>
                </a:r>
                <a:r>
                  <a:rPr lang="en-GB" altLang="en-US" sz="2000" dirty="0"/>
                  <a:t>) &lt; 1 if x is partly in A.</a:t>
                </a:r>
              </a:p>
              <a:p>
                <a:pPr>
                  <a:lnSpc>
                    <a:spcPct val="90000"/>
                  </a:lnSpc>
                </a:pPr>
                <a:endParaRPr lang="en-GB" altLang="en-US" sz="1800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en-US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GB" alt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sz="28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alt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altLang="en-US" sz="2800" dirty="0"/>
                  <a:t>the degree to which x is an element of set </a:t>
                </a:r>
                <a:r>
                  <a:rPr lang="en-GB" altLang="en-US" sz="2800" i="1" dirty="0"/>
                  <a:t>A</a:t>
                </a:r>
                <a:endParaRPr lang="en-GB" altLang="en-US" sz="2800" dirty="0"/>
              </a:p>
              <a:p>
                <a:pPr lvl="1">
                  <a:lnSpc>
                    <a:spcPct val="90000"/>
                  </a:lnSpc>
                </a:pPr>
                <a:r>
                  <a:rPr lang="en-GB" altLang="en-US" sz="2400" dirty="0"/>
                  <a:t>called </a:t>
                </a:r>
                <a:r>
                  <a:rPr lang="en-GB" altLang="en-US" sz="2400" b="1" dirty="0"/>
                  <a:t>degree of membership</a:t>
                </a:r>
                <a:r>
                  <a:rPr lang="en-GB" altLang="en-US" sz="2400" dirty="0"/>
                  <a:t>, or </a:t>
                </a:r>
                <a:r>
                  <a:rPr lang="en-GB" altLang="en-US" sz="2400" b="1" dirty="0"/>
                  <a:t>membership value</a:t>
                </a:r>
                <a:r>
                  <a:rPr lang="en-GB" altLang="en-US" sz="2400" dirty="0"/>
                  <a:t> of element </a:t>
                </a:r>
                <a:r>
                  <a:rPr lang="en-GB" altLang="en-US" sz="2400" i="1" dirty="0"/>
                  <a:t>x</a:t>
                </a:r>
                <a:r>
                  <a:rPr lang="en-GB" altLang="en-US" sz="2400" dirty="0"/>
                  <a:t> in set </a:t>
                </a:r>
                <a:r>
                  <a:rPr lang="en-GB" altLang="en-US" sz="2400" i="1" dirty="0"/>
                  <a:t>A</a:t>
                </a:r>
                <a:r>
                  <a:rPr lang="en-GB" altLang="en-US" sz="2400" dirty="0"/>
                  <a:t>.</a:t>
                </a:r>
              </a:p>
            </p:txBody>
          </p:sp>
        </mc:Choice>
        <mc:Fallback xmlns="">
          <p:sp>
            <p:nvSpPr>
              <p:cNvPr id="3440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454" t="-3030" b="-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673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8E49-7868-E18F-78B5-8CE7C691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Membership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FC801-65C2-432C-DBA9-1FB1912F3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Fuzzy sets contain objects that satisfy imprecise properties of membership, i.e., membership of an object in a fuzzy set can be approximate. 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A832C-0444-79FD-CB8C-F4E20F563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54666" y="3162193"/>
            <a:ext cx="20002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51">
            <a:extLst>
              <a:ext uri="{FF2B5EF4-FFF2-40B4-BE49-F238E27FC236}">
                <a16:creationId xmlns:a16="http://schemas.microsoft.com/office/drawing/2014/main" id="{A2024DC2-3B12-5B7C-6E28-B4B71F05F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634" y="5832582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Line 52">
            <a:extLst>
              <a:ext uri="{FF2B5EF4-FFF2-40B4-BE49-F238E27FC236}">
                <a16:creationId xmlns:a16="http://schemas.microsoft.com/office/drawing/2014/main" id="{0CA0AA52-D1B4-69EE-D3E9-6A1528919A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834" y="4079982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53">
            <a:extLst>
              <a:ext uri="{FF2B5EF4-FFF2-40B4-BE49-F238E27FC236}">
                <a16:creationId xmlns:a16="http://schemas.microsoft.com/office/drawing/2014/main" id="{0B3F4079-902B-AE05-FE46-DCB264AF1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634" y="5832582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54">
            <a:extLst>
              <a:ext uri="{FF2B5EF4-FFF2-40B4-BE49-F238E27FC236}">
                <a16:creationId xmlns:a16="http://schemas.microsoft.com/office/drawing/2014/main" id="{48407F39-7383-CC03-F16D-9138BFD000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1434" y="4384782"/>
            <a:ext cx="0" cy="1447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Line 55">
            <a:extLst>
              <a:ext uri="{FF2B5EF4-FFF2-40B4-BE49-F238E27FC236}">
                <a16:creationId xmlns:a16="http://schemas.microsoft.com/office/drawing/2014/main" id="{6655C5C5-50BA-B416-CCDB-77D508EF09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1434" y="4384782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Line 56">
            <a:extLst>
              <a:ext uri="{FF2B5EF4-FFF2-40B4-BE49-F238E27FC236}">
                <a16:creationId xmlns:a16="http://schemas.microsoft.com/office/drawing/2014/main" id="{83712C74-05BC-7E6D-797E-888C24EA3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834" y="4384782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Text Box 57">
            <a:extLst>
              <a:ext uri="{FF2B5EF4-FFF2-40B4-BE49-F238E27FC236}">
                <a16:creationId xmlns:a16="http://schemas.microsoft.com/office/drawing/2014/main" id="{833611EF-25DD-3162-04C9-9BD525925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59" y="4192694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Text Box 58">
            <a:extLst>
              <a:ext uri="{FF2B5EF4-FFF2-40B4-BE49-F238E27FC236}">
                <a16:creationId xmlns:a16="http://schemas.microsoft.com/office/drawing/2014/main" id="{FB4EE7EF-0097-18C9-10A7-A02223D14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59" y="5564294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3" name="Text Box 59">
            <a:extLst>
              <a:ext uri="{FF2B5EF4-FFF2-40B4-BE49-F238E27FC236}">
                <a16:creationId xmlns:a16="http://schemas.microsoft.com/office/drawing/2014/main" id="{EA0D0B3A-8C88-B21D-A80A-6888BC21C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959" y="5869094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175</a:t>
            </a:r>
          </a:p>
        </p:txBody>
      </p:sp>
      <p:sp>
        <p:nvSpPr>
          <p:cNvPr id="14" name="Text Box 60">
            <a:extLst>
              <a:ext uri="{FF2B5EF4-FFF2-40B4-BE49-F238E27FC236}">
                <a16:creationId xmlns:a16="http://schemas.microsoft.com/office/drawing/2014/main" id="{C3116F51-B73F-8452-CB0D-92DE72F6A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559" y="5869094"/>
            <a:ext cx="130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Height(cm)</a:t>
            </a:r>
          </a:p>
        </p:txBody>
      </p:sp>
      <p:sp>
        <p:nvSpPr>
          <p:cNvPr id="15" name="Line 61">
            <a:extLst>
              <a:ext uri="{FF2B5EF4-FFF2-40B4-BE49-F238E27FC236}">
                <a16:creationId xmlns:a16="http://schemas.microsoft.com/office/drawing/2014/main" id="{18A58804-B656-EC77-CEF1-3C037B10C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6034" y="5832582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Line 62">
            <a:extLst>
              <a:ext uri="{FF2B5EF4-FFF2-40B4-BE49-F238E27FC236}">
                <a16:creationId xmlns:a16="http://schemas.microsoft.com/office/drawing/2014/main" id="{53A43307-8C37-4527-EDE5-9C8733989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2234" y="4079982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Line 66">
            <a:extLst>
              <a:ext uri="{FF2B5EF4-FFF2-40B4-BE49-F238E27FC236}">
                <a16:creationId xmlns:a16="http://schemas.microsoft.com/office/drawing/2014/main" id="{BD08B05F-0E23-B44F-0286-86DD301B03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2234" y="4345094"/>
            <a:ext cx="2879725" cy="396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Text Box 67">
            <a:extLst>
              <a:ext uri="{FF2B5EF4-FFF2-40B4-BE49-F238E27FC236}">
                <a16:creationId xmlns:a16="http://schemas.microsoft.com/office/drawing/2014/main" id="{3CC2ACB8-23DA-C51B-B267-6D5058E13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5359" y="4192694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9" name="Text Box 68">
            <a:extLst>
              <a:ext uri="{FF2B5EF4-FFF2-40B4-BE49-F238E27FC236}">
                <a16:creationId xmlns:a16="http://schemas.microsoft.com/office/drawing/2014/main" id="{FAA37495-55BD-4718-5326-726E550DF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5359" y="5564294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0" name="Text Box 69">
            <a:extLst>
              <a:ext uri="{FF2B5EF4-FFF2-40B4-BE49-F238E27FC236}">
                <a16:creationId xmlns:a16="http://schemas.microsoft.com/office/drawing/2014/main" id="{51B2EC7B-6536-D368-3AA3-AEDC01E75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9359" y="5869094"/>
            <a:ext cx="565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175</a:t>
            </a:r>
          </a:p>
        </p:txBody>
      </p:sp>
      <p:sp>
        <p:nvSpPr>
          <p:cNvPr id="21" name="Text Box 70">
            <a:extLst>
              <a:ext uri="{FF2B5EF4-FFF2-40B4-BE49-F238E27FC236}">
                <a16:creationId xmlns:a16="http://schemas.microsoft.com/office/drawing/2014/main" id="{0499909F-5405-B2F6-0F7E-3D9918E72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959" y="5869094"/>
            <a:ext cx="1301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Height(cm)</a:t>
            </a:r>
          </a:p>
        </p:txBody>
      </p:sp>
      <p:sp>
        <p:nvSpPr>
          <p:cNvPr id="22" name="Freeform 73">
            <a:extLst>
              <a:ext uri="{FF2B5EF4-FFF2-40B4-BE49-F238E27FC236}">
                <a16:creationId xmlns:a16="http://schemas.microsoft.com/office/drawing/2014/main" id="{3108CCF8-493C-C5B9-964C-A0E8A8AE11F2}"/>
              </a:ext>
            </a:extLst>
          </p:cNvPr>
          <p:cNvSpPr>
            <a:spLocks/>
          </p:cNvSpPr>
          <p:nvPr/>
        </p:nvSpPr>
        <p:spPr bwMode="auto">
          <a:xfrm>
            <a:off x="5166359" y="4421294"/>
            <a:ext cx="2895600" cy="1435100"/>
          </a:xfrm>
          <a:custGeom>
            <a:avLst/>
            <a:gdLst>
              <a:gd name="T0" fmla="*/ 0 w 1824"/>
              <a:gd name="T1" fmla="*/ 2147483647 h 904"/>
              <a:gd name="T2" fmla="*/ 846772500 w 1824"/>
              <a:gd name="T3" fmla="*/ 2056447500 h 904"/>
              <a:gd name="T4" fmla="*/ 2147483647 w 1824"/>
              <a:gd name="T5" fmla="*/ 846772500 h 904"/>
              <a:gd name="T6" fmla="*/ 2147483647 w 1824"/>
              <a:gd name="T7" fmla="*/ 362902500 h 904"/>
              <a:gd name="T8" fmla="*/ 2147483647 w 1824"/>
              <a:gd name="T9" fmla="*/ 120967500 h 904"/>
              <a:gd name="T10" fmla="*/ 2147483647 w 1824"/>
              <a:gd name="T11" fmla="*/ 0 h 9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824" h="904">
                <a:moveTo>
                  <a:pt x="0" y="864"/>
                </a:moveTo>
                <a:cubicBezTo>
                  <a:pt x="96" y="884"/>
                  <a:pt x="192" y="904"/>
                  <a:pt x="336" y="816"/>
                </a:cubicBezTo>
                <a:cubicBezTo>
                  <a:pt x="480" y="728"/>
                  <a:pt x="728" y="448"/>
                  <a:pt x="864" y="336"/>
                </a:cubicBezTo>
                <a:cubicBezTo>
                  <a:pt x="1000" y="224"/>
                  <a:pt x="1048" y="192"/>
                  <a:pt x="1152" y="144"/>
                </a:cubicBezTo>
                <a:cubicBezTo>
                  <a:pt x="1256" y="96"/>
                  <a:pt x="1376" y="72"/>
                  <a:pt x="1488" y="48"/>
                </a:cubicBezTo>
                <a:cubicBezTo>
                  <a:pt x="1600" y="24"/>
                  <a:pt x="1712" y="12"/>
                  <a:pt x="182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Line 74">
            <a:extLst>
              <a:ext uri="{FF2B5EF4-FFF2-40B4-BE49-F238E27FC236}">
                <a16:creationId xmlns:a16="http://schemas.microsoft.com/office/drawing/2014/main" id="{3889822F-5353-F3B5-1EF9-12B6A58D10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4159" y="4345094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Text Box 77">
            <a:extLst>
              <a:ext uri="{FF2B5EF4-FFF2-40B4-BE49-F238E27FC236}">
                <a16:creationId xmlns:a16="http://schemas.microsoft.com/office/drawing/2014/main" id="{2A908A97-452E-D25D-1628-0D15F5ADB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484" y="3695807"/>
            <a:ext cx="2051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Membership value</a:t>
            </a:r>
          </a:p>
        </p:txBody>
      </p:sp>
      <p:sp>
        <p:nvSpPr>
          <p:cNvPr id="27" name="Text Box 78">
            <a:extLst>
              <a:ext uri="{FF2B5EF4-FFF2-40B4-BE49-F238E27FC236}">
                <a16:creationId xmlns:a16="http://schemas.microsoft.com/office/drawing/2014/main" id="{C5B814C5-A69A-074A-D390-6CEB9E88C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884" y="3695807"/>
            <a:ext cx="2051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Membership value</a:t>
            </a:r>
          </a:p>
        </p:txBody>
      </p:sp>
    </p:spTree>
    <p:extLst>
      <p:ext uri="{BB962C8B-B14F-4D97-AF65-F5344CB8AC3E}">
        <p14:creationId xmlns:p14="http://schemas.microsoft.com/office/powerpoint/2010/main" val="991449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BC76-D168-224C-8E02-007E8437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type of Membership Function</a:t>
            </a:r>
          </a:p>
        </p:txBody>
      </p:sp>
      <p:pic>
        <p:nvPicPr>
          <p:cNvPr id="4098" name="Picture 2" descr="Types of membership functions | Download Scientific Diagram">
            <a:extLst>
              <a:ext uri="{FF2B5EF4-FFF2-40B4-BE49-F238E27FC236}">
                <a16:creationId xmlns:a16="http://schemas.microsoft.com/office/drawing/2014/main" id="{92A638DE-8211-95A8-6729-CAC81D9FA5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347" y="1846263"/>
            <a:ext cx="4400715" cy="4307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126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6B041-669C-F0C8-8918-EABB4C81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10A38-F806-4AD0-0181-427EFEEB3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There are 2 commonly used ways of denoting fuzzy sets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 fuzzy set A defined on X may be written as a collection of ordered pairs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C00242-98E7-8D6E-119A-B01CAFACB4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3026" t="39756" r="22492" b="31488"/>
          <a:stretch/>
        </p:blipFill>
        <p:spPr>
          <a:xfrm>
            <a:off x="2180492" y="3857414"/>
            <a:ext cx="4783016" cy="692468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8C04DEB-CE51-73D4-ADF4-F422C6B2DD30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4"/>
          <a:srcRect t="18022"/>
          <a:stretch/>
        </p:blipFill>
        <p:spPr>
          <a:xfrm>
            <a:off x="353964" y="4865479"/>
            <a:ext cx="8436071" cy="87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28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9D84-77A7-4480-8A4A-83B30B0FE8FD}" type="slidenum">
              <a:rPr lang="en-GB" altLang="en-US"/>
              <a:pPr/>
              <a:t>16</a:t>
            </a:fld>
            <a:endParaRPr lang="en-GB" altLang="en-US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Fuzzy Set Representation</a:t>
            </a:r>
          </a:p>
        </p:txBody>
      </p:sp>
      <p:graphicFrame>
        <p:nvGraphicFramePr>
          <p:cNvPr id="345093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063349"/>
              </p:ext>
            </p:extLst>
          </p:nvPr>
        </p:nvGraphicFramePr>
        <p:xfrm>
          <a:off x="2201541" y="1760807"/>
          <a:ext cx="4740917" cy="4404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035680" imgH="4678200" progId="Word.Picture.8">
                  <p:embed/>
                </p:oleObj>
              </mc:Choice>
              <mc:Fallback>
                <p:oleObj name="Picture" r:id="rId2" imgW="5035680" imgH="4678200" progId="Word.Picture.8">
                  <p:embed/>
                  <p:pic>
                    <p:nvPicPr>
                      <p:cNvPr id="3450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541" y="1760807"/>
                        <a:ext cx="4740917" cy="4404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1015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A5B7-A6F3-1304-4C61-437FC99AD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5DE96-0A4F-FFAB-6D81-06E90455B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In this alternative notation the set of small integers maybe written 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73C8C3-0AAC-8540-7F3A-DE3E530B6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884" y="3608696"/>
            <a:ext cx="7089506" cy="168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0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F253-21DA-DDFE-6804-FED26875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Fuzzy Set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1A11AB-D3AC-D6A4-DD84-B62306C63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697808"/>
            <a:ext cx="7543800" cy="231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13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EA1E-433E-AC40-4306-2464B907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Fuzzy Set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821066-2563-C50D-0722-352919203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665798"/>
            <a:ext cx="7543800" cy="238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10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54C9-CAA4-1436-F3D3-2BB7A7FE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3C324-5F47-0688-EFE5-75971FEE4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Union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Intersection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Complement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Difference </a:t>
            </a:r>
          </a:p>
        </p:txBody>
      </p:sp>
    </p:spTree>
    <p:extLst>
      <p:ext uri="{BB962C8B-B14F-4D97-AF65-F5344CB8AC3E}">
        <p14:creationId xmlns:p14="http://schemas.microsoft.com/office/powerpoint/2010/main" val="3667142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AA106-90F6-F2FA-0E0A-FC986F07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D5C77-AFE0-5271-1AD8-A347DD4D3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b="1" dirty="0">
                <a:solidFill>
                  <a:schemeClr val="accent2"/>
                </a:solidFill>
              </a:rPr>
              <a:t>Crisp Sets</a:t>
            </a:r>
            <a:r>
              <a:rPr lang="en-GB" sz="2800" dirty="0"/>
              <a:t>: Which element belongs to either set?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b="1" dirty="0">
                <a:solidFill>
                  <a:schemeClr val="accent2"/>
                </a:solidFill>
              </a:rPr>
              <a:t>Fuzzy Sets</a:t>
            </a:r>
            <a:r>
              <a:rPr lang="en-GB" sz="2800" dirty="0"/>
              <a:t>: How much of the element is in either 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The union is the </a:t>
            </a:r>
            <a:r>
              <a:rPr lang="en-GB" sz="2800" b="1" dirty="0">
                <a:solidFill>
                  <a:schemeClr val="accent2"/>
                </a:solidFill>
              </a:rPr>
              <a:t>largest membership </a:t>
            </a:r>
            <a:r>
              <a:rPr lang="en-GB" sz="2800" dirty="0"/>
              <a:t>value of the element in either 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300A0-2804-E1B5-EA72-EA109AB7C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488" y="4278556"/>
            <a:ext cx="6981377" cy="2699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358439-EEEC-95A6-A366-0290F411E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852" y="4910667"/>
            <a:ext cx="672465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01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B05C-0189-8134-C12C-4B3B9EA45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48C5F-2831-0FAA-F8A9-418CD8847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b="1" dirty="0">
                <a:solidFill>
                  <a:schemeClr val="accent2"/>
                </a:solidFill>
              </a:rPr>
              <a:t>Crisp Sets</a:t>
            </a:r>
            <a:r>
              <a:rPr lang="en-GB" sz="2800" dirty="0"/>
              <a:t>: Which element belongs to both sets?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b="1" dirty="0">
                <a:solidFill>
                  <a:schemeClr val="accent2"/>
                </a:solidFill>
              </a:rPr>
              <a:t>Fuzzy Sets</a:t>
            </a:r>
            <a:r>
              <a:rPr lang="en-GB" sz="2800" dirty="0"/>
              <a:t>: To what degree the element is in both sets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The intersection is the </a:t>
            </a:r>
            <a:r>
              <a:rPr lang="en-GB" sz="2800" b="1" dirty="0">
                <a:solidFill>
                  <a:schemeClr val="accent2"/>
                </a:solidFill>
              </a:rPr>
              <a:t>smallest</a:t>
            </a:r>
            <a:r>
              <a:rPr lang="en-GB" sz="2800" dirty="0"/>
              <a:t> membership value of the element in either set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D7AE1-166F-75AB-5E38-249F40E6F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258" y="4275626"/>
            <a:ext cx="6265038" cy="331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15DB49-6E7E-D1BA-4FD2-AA4D49127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046" y="4745144"/>
            <a:ext cx="695325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3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9D31-5324-041A-2077-691FE82DE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DF253-B0B7-3648-3E0D-81C9B7AD4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dirty="0"/>
              <a:t>The complement of a set is an opposite of this set.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969D1-EE49-0A1C-B9F1-97B85FC5B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140" y="2669565"/>
            <a:ext cx="4271719" cy="487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367705-2BD2-6A19-34C0-0E0FF7A55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612" y="3981112"/>
            <a:ext cx="7155639" cy="93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52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05B3-D450-222D-2644-87332B33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Multiplying a Fuzzy Set by a Crisp Number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8FA9ED-9420-12A0-DFCE-0317FE7DC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017" t="69457" r="26829" b="-2159"/>
          <a:stretch/>
        </p:blipFill>
        <p:spPr>
          <a:xfrm>
            <a:off x="1826772" y="3796605"/>
            <a:ext cx="5490456" cy="9612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1371D-ACE6-1A35-FA49-13E0ABC03870}"/>
              </a:ext>
            </a:extLst>
          </p:cNvPr>
          <p:cNvSpPr txBox="1"/>
          <p:nvPr/>
        </p:nvSpPr>
        <p:spPr>
          <a:xfrm>
            <a:off x="1043355" y="2145323"/>
            <a:ext cx="73234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We can multiply the membership function of a fuzzy set A by the crisp number a to obtain a new fuzzy set</a:t>
            </a:r>
          </a:p>
        </p:txBody>
      </p:sp>
    </p:spTree>
    <p:extLst>
      <p:ext uri="{BB962C8B-B14F-4D97-AF65-F5344CB8AC3E}">
        <p14:creationId xmlns:p14="http://schemas.microsoft.com/office/powerpoint/2010/main" val="3450144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7F7DE-91DC-44E2-9C00-9C39E512C1EA}" type="slidenum">
              <a:rPr lang="en-GB" altLang="en-US"/>
              <a:pPr/>
              <a:t>25</a:t>
            </a:fld>
            <a:endParaRPr lang="en-GB" altLang="en-US"/>
          </a:p>
        </p:txBody>
      </p:sp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Operations of Fuzzy Sets</a:t>
            </a:r>
            <a:endParaRPr lang="en-US" alt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2877" y="2050148"/>
            <a:ext cx="3840179" cy="409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09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3CC25CB-D945-524B-50FF-8B9E40826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325" y="287338"/>
            <a:ext cx="7543800" cy="1449387"/>
          </a:xfrm>
        </p:spPr>
        <p:txBody>
          <a:bodyPr/>
          <a:lstStyle/>
          <a:p>
            <a:r>
              <a:rPr lang="en-GB" altLang="en-US" dirty="0"/>
              <a:t>Properties of Fuzzy Sets</a:t>
            </a:r>
            <a:endParaRPr lang="en-US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21B1B1-4291-69EE-D956-18454D448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946110"/>
            <a:ext cx="7543800" cy="3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7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CDD7-4E90-4FCB-8858-B9392FD67359}" type="slidenum">
              <a:rPr lang="en-GB" altLang="en-US"/>
              <a:pPr/>
              <a:t>27</a:t>
            </a:fld>
            <a:endParaRPr lang="en-GB" altLang="en-US"/>
          </a:p>
        </p:txBody>
      </p:sp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Alpha-cut</a:t>
            </a:r>
            <a:endParaRPr lang="en-US" altLang="en-US" dirty="0"/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2959" y="1845733"/>
            <a:ext cx="7543801" cy="443783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list of all elements of fuzzy set </a:t>
            </a:r>
            <a:r>
              <a:rPr lang="en-US" i="1" dirty="0"/>
              <a:t>A</a:t>
            </a:r>
            <a:r>
              <a:rPr lang="en-US" dirty="0"/>
              <a:t> with membership grades greater than or equal to </a:t>
            </a:r>
            <a:r>
              <a:rPr lang="en-US" i="1" dirty="0"/>
              <a:t>alpha</a:t>
            </a:r>
            <a:r>
              <a:rPr lang="en-US" dirty="0"/>
              <a:t> is called the alpha-cut of A.</a:t>
            </a:r>
            <a:endParaRPr lang="en-GB" altLang="en-US" dirty="0">
              <a:cs typeface="Times New Roman" panose="02020603050405020304" pitchFamily="18" charset="0"/>
            </a:endParaRPr>
          </a:p>
          <a:p>
            <a:r>
              <a:rPr lang="en-GB" altLang="en-US" dirty="0">
                <a:cs typeface="Times New Roman" panose="02020603050405020304" pitchFamily="18" charset="0"/>
              </a:rPr>
              <a:t>An </a:t>
            </a:r>
            <a:r>
              <a:rPr lang="en-GB" alt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GB" altLang="en-US" dirty="0">
                <a:cs typeface="Times New Roman" panose="02020603050405020304" pitchFamily="18" charset="0"/>
              </a:rPr>
              <a:t>-cut or </a:t>
            </a:r>
            <a:r>
              <a:rPr lang="en-GB" alt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GB" altLang="en-US" dirty="0">
                <a:cs typeface="Times New Roman" panose="02020603050405020304" pitchFamily="18" charset="0"/>
              </a:rPr>
              <a:t>-level set of a fuzzy set </a:t>
            </a:r>
            <a:r>
              <a:rPr lang="en-GB" altLang="en-US" i="1" dirty="0">
                <a:cs typeface="Times New Roman" panose="02020603050405020304" pitchFamily="18" charset="0"/>
              </a:rPr>
              <a:t>A</a:t>
            </a:r>
            <a:r>
              <a:rPr lang="en-GB" altLang="en-US" dirty="0">
                <a:cs typeface="Times New Roman" panose="02020603050405020304" pitchFamily="18" charset="0"/>
              </a:rPr>
              <a:t> is:</a:t>
            </a:r>
          </a:p>
          <a:p>
            <a:pPr>
              <a:buFontTx/>
              <a:buNone/>
            </a:pPr>
            <a:r>
              <a:rPr lang="en-GB" altLang="en-US" i="1" dirty="0">
                <a:cs typeface="Times New Roman" panose="02020603050405020304" pitchFamily="18" charset="0"/>
              </a:rPr>
              <a:t>		</a:t>
            </a:r>
            <a:r>
              <a:rPr lang="en-GB" altLang="en-US" b="1" i="1" dirty="0">
                <a:cs typeface="Times New Roman" panose="02020603050405020304" pitchFamily="18" charset="0"/>
              </a:rPr>
              <a:t>A</a:t>
            </a:r>
            <a:r>
              <a:rPr lang="en-GB" altLang="en-US" b="1" i="1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GB" altLang="en-US" b="1" dirty="0">
                <a:cs typeface="Times New Roman" panose="02020603050405020304" pitchFamily="18" charset="0"/>
              </a:rPr>
              <a:t>={</a:t>
            </a:r>
            <a:r>
              <a:rPr lang="en-GB" altLang="en-US" b="1" i="1" dirty="0"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GB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GB" altLang="en-US" b="1" i="1" dirty="0"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GB" altLang="en-US" b="1" i="1" baseline="-25000" dirty="0">
                <a:cs typeface="Times New Roman" panose="02020603050405020304" pitchFamily="18" charset="0"/>
              </a:rPr>
              <a:t>A</a:t>
            </a:r>
            <a:r>
              <a:rPr lang="en-GB" altLang="en-US" b="1" dirty="0">
                <a:cs typeface="Times New Roman" panose="02020603050405020304" pitchFamily="18" charset="0"/>
              </a:rPr>
              <a:t>(</a:t>
            </a:r>
            <a:r>
              <a:rPr lang="en-GB" altLang="en-US" b="1" i="1" dirty="0">
                <a:cs typeface="Times New Roman" panose="02020603050405020304" pitchFamily="18" charset="0"/>
              </a:rPr>
              <a:t>x</a:t>
            </a:r>
            <a:r>
              <a:rPr lang="en-GB" altLang="en-US" b="1" dirty="0">
                <a:cs typeface="Times New Roman" panose="02020603050405020304" pitchFamily="18" charset="0"/>
              </a:rPr>
              <a:t>)</a:t>
            </a:r>
            <a:r>
              <a:rPr lang="en-GB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GB" altLang="en-US" b="1" i="1" dirty="0">
                <a:cs typeface="Times New Roman" panose="02020603050405020304" pitchFamily="18" charset="0"/>
                <a:sym typeface="Symbol" panose="05050102010706020507" pitchFamily="18" charset="2"/>
              </a:rPr>
              <a:t>, </a:t>
            </a:r>
            <a:r>
              <a:rPr lang="en-GB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GB" altLang="en-US" b="1" i="1" dirty="0" err="1">
                <a:cs typeface="Times New Roman" panose="02020603050405020304" pitchFamily="18" charset="0"/>
              </a:rPr>
              <a:t>x</a:t>
            </a:r>
            <a:r>
              <a:rPr lang="en-GB" altLang="en-US" b="1" dirty="0" err="1"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GB" altLang="en-US" b="1" i="1" dirty="0" err="1">
                <a:cs typeface="Times New Roman" panose="02020603050405020304" pitchFamily="18" charset="0"/>
              </a:rPr>
              <a:t>X</a:t>
            </a:r>
            <a:r>
              <a:rPr lang="en-GB" altLang="en-US" b="1" dirty="0">
                <a:cs typeface="Times New Roman" panose="02020603050405020304" pitchFamily="18" charset="0"/>
              </a:rPr>
              <a:t>}.</a:t>
            </a:r>
            <a:endParaRPr lang="en-US" altLang="en-US" b="1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cs typeface="Times New Roman" panose="02020603050405020304" pitchFamily="18" charset="0"/>
              </a:rPr>
              <a:t>Consider </a:t>
            </a:r>
            <a:r>
              <a:rPr lang="en-US" altLang="en-US" i="1" dirty="0">
                <a:cs typeface="Times New Roman" panose="02020603050405020304" pitchFamily="18" charset="0"/>
              </a:rPr>
              <a:t>X</a:t>
            </a:r>
            <a:r>
              <a:rPr lang="en-US" altLang="en-US" dirty="0">
                <a:cs typeface="Times New Roman" panose="02020603050405020304" pitchFamily="18" charset="0"/>
              </a:rPr>
              <a:t> = {1, 2, 3} and set </a:t>
            </a:r>
            <a:r>
              <a:rPr lang="en-US" altLang="en-US" i="1" dirty="0">
                <a:cs typeface="Times New Roman" panose="02020603050405020304" pitchFamily="18" charset="0"/>
              </a:rPr>
              <a:t>A</a:t>
            </a:r>
            <a:endParaRPr lang="en-GB" altLang="en-US" i="1" dirty="0"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GB" altLang="en-US" i="1" dirty="0">
                <a:cs typeface="Times New Roman" panose="02020603050405020304" pitchFamily="18" charset="0"/>
              </a:rPr>
              <a:t>		A</a:t>
            </a:r>
            <a:r>
              <a:rPr lang="en-GB" altLang="en-US" dirty="0">
                <a:cs typeface="Times New Roman" panose="02020603050405020304" pitchFamily="18" charset="0"/>
              </a:rPr>
              <a:t> = 0.3/1 + 0.5/2 + 1/3</a:t>
            </a:r>
          </a:p>
          <a:p>
            <a:pPr>
              <a:buFontTx/>
              <a:buNone/>
            </a:pPr>
            <a:endParaRPr lang="en-GB" altLang="en-US" dirty="0"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GB" altLang="en-US" i="1" dirty="0">
                <a:cs typeface="Times New Roman" panose="02020603050405020304" pitchFamily="18" charset="0"/>
              </a:rPr>
              <a:t>	</a:t>
            </a:r>
            <a:r>
              <a:rPr lang="en-GB" altLang="en-US" dirty="0">
                <a:cs typeface="Times New Roman" panose="02020603050405020304" pitchFamily="18" charset="0"/>
              </a:rPr>
              <a:t>then	A</a:t>
            </a:r>
            <a:r>
              <a:rPr lang="en-GB" altLang="en-US" baseline="-25000" dirty="0">
                <a:cs typeface="Times New Roman" panose="02020603050405020304" pitchFamily="18" charset="0"/>
              </a:rPr>
              <a:t>0.5</a:t>
            </a:r>
            <a:r>
              <a:rPr lang="en-GB" altLang="en-US" dirty="0">
                <a:cs typeface="Times New Roman" panose="02020603050405020304" pitchFamily="18" charset="0"/>
              </a:rPr>
              <a:t> = {2,3}</a:t>
            </a:r>
          </a:p>
          <a:p>
            <a:pPr>
              <a:buFontTx/>
              <a:buNone/>
            </a:pPr>
            <a:r>
              <a:rPr lang="en-GB" altLang="en-US" dirty="0">
                <a:cs typeface="Times New Roman" panose="02020603050405020304" pitchFamily="18" charset="0"/>
              </a:rPr>
              <a:t>		A</a:t>
            </a:r>
            <a:r>
              <a:rPr lang="en-GB" altLang="en-US" baseline="-25000" dirty="0">
                <a:cs typeface="Times New Roman" panose="02020603050405020304" pitchFamily="18" charset="0"/>
              </a:rPr>
              <a:t>0.1</a:t>
            </a:r>
            <a:r>
              <a:rPr lang="en-GB" altLang="en-US" dirty="0">
                <a:cs typeface="Times New Roman" panose="02020603050405020304" pitchFamily="18" charset="0"/>
              </a:rPr>
              <a:t> = {1,2,3}</a:t>
            </a:r>
          </a:p>
          <a:p>
            <a:pPr>
              <a:buFontTx/>
              <a:buNone/>
            </a:pPr>
            <a:r>
              <a:rPr lang="en-GB" altLang="en-US" dirty="0">
                <a:cs typeface="Times New Roman" panose="02020603050405020304" pitchFamily="18" charset="0"/>
              </a:rPr>
              <a:t>		A</a:t>
            </a:r>
            <a:r>
              <a:rPr lang="en-GB" altLang="en-US" baseline="-25000" dirty="0">
                <a:cs typeface="Times New Roman" panose="02020603050405020304" pitchFamily="18" charset="0"/>
              </a:rPr>
              <a:t>1</a:t>
            </a:r>
            <a:r>
              <a:rPr lang="en-GB" altLang="en-US" dirty="0">
                <a:cs typeface="Times New Roman" panose="02020603050405020304" pitchFamily="18" charset="0"/>
              </a:rPr>
              <a:t> = {3}</a:t>
            </a:r>
            <a:endParaRPr lang="en-US" altLang="en-US" dirty="0">
              <a:cs typeface="Times New Roman" panose="02020603050405020304" pitchFamily="18" charset="0"/>
            </a:endParaRPr>
          </a:p>
          <a:p>
            <a:endParaRPr lang="en-US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56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2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2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2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2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2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2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11C2-ABE1-9EA2-6883-400665D8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Cut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9ECF88-15AB-06DA-36A3-74D3A814B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548283"/>
            <a:ext cx="7543800" cy="261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10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B840-9C40-8CE0-E71D-C01E2932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Alpha Cut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756A9-C30D-C451-CA2A-51A2E4E2E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dirty="0"/>
              <a:t>µA(x) = x^2 / x+ 2</a:t>
            </a:r>
          </a:p>
          <a:p>
            <a:r>
              <a:rPr lang="en-GB" sz="2400" dirty="0"/>
              <a:t>What will be the α(alpha) cut corresponding to α = 0.3?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0355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6611-11E7-67FE-C33E-37262FA8E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Fuzzy operations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788D3-FDA1-90F6-AA82-C25FAB522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Let, fuzzy sets A and B defined on the interval X= [0, 5] of real numbers by the membership function </a:t>
            </a:r>
          </a:p>
          <a:p>
            <a:pPr marL="0" indent="0" algn="ctr">
              <a:buNone/>
            </a:pPr>
            <a:r>
              <a:rPr lang="en-GB" sz="2400" dirty="0"/>
              <a:t>µa(x)= x/(x+1), µb(x)=4-(x+1).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Determine the mathematical formulas and graphs of the membership functions in each of the following sets,  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 err="1"/>
              <a:t>i</a:t>
            </a:r>
            <a:r>
              <a:rPr lang="en-GB" sz="2400" dirty="0"/>
              <a:t>. Ac, </a:t>
            </a:r>
            <a:r>
              <a:rPr lang="en-GB" sz="2400" dirty="0" err="1"/>
              <a:t>Bc</a:t>
            </a:r>
            <a:r>
              <a:rPr lang="en-GB" sz="2400" dirty="0"/>
              <a:t>                 ii. A ∪ B               iii. A ∩ B             iv. (A ∪ B )c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4181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投影片編號版面配置區 5">
            <a:extLst>
              <a:ext uri="{FF2B5EF4-FFF2-40B4-BE49-F238E27FC236}">
                <a16:creationId xmlns:a16="http://schemas.microsoft.com/office/drawing/2014/main" id="{AFB15A4D-10E6-581E-1B5D-9EEAFF1C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7513D5E-74C5-4154-80C5-D46117F2F471}" type="slidenum">
              <a:rPr kumimoji="1" lang="en-US" altLang="zh-TW">
                <a:latin typeface="Arial" panose="020B0604020202020204" pitchFamily="34" charset="0"/>
              </a:rPr>
              <a:pPr/>
              <a:t>31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D7E7036E-AD4C-7BCA-C1BA-125912B79B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Product set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7266E4B-2302-70FE-0F62-92ED6C035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  <p:pic>
        <p:nvPicPr>
          <p:cNvPr id="5125" name="Picture 4">
            <a:extLst>
              <a:ext uri="{FF2B5EF4-FFF2-40B4-BE49-F238E27FC236}">
                <a16:creationId xmlns:a16="http://schemas.microsoft.com/office/drawing/2014/main" id="{79BF9ABD-28F9-D9C6-5C11-84CA6DD5A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" y="1737361"/>
            <a:ext cx="8353425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69AA3E5E-00DF-4AF5-369E-B17DA1C2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4DA041E-50C9-4651-8F13-F8CAD54F9DA5}" type="slidenum">
              <a:rPr kumimoji="1" lang="en-US" altLang="zh-TW">
                <a:latin typeface="Arial" panose="020B0604020202020204" pitchFamily="34" charset="0"/>
              </a:rPr>
              <a:pPr/>
              <a:t>32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2454B21-3EDA-E4F2-72F6-A126835AA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Product set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69704660-C395-A67F-FC08-929894CAE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47" y="1932476"/>
            <a:ext cx="8353425" cy="332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">
            <a:extLst>
              <a:ext uri="{FF2B5EF4-FFF2-40B4-BE49-F238E27FC236}">
                <a16:creationId xmlns:a16="http://schemas.microsoft.com/office/drawing/2014/main" id="{8021E5B5-2CA4-E3A1-7CCE-283A9ED94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</a:rPr>
              <a:t>Product set</a:t>
            </a:r>
            <a:endParaRPr lang="zh-TW" altLang="en-US">
              <a:latin typeface="Times New Roman" panose="02020603050405020304" pitchFamily="18" charset="0"/>
            </a:endParaRPr>
          </a:p>
        </p:txBody>
      </p:sp>
      <p:sp>
        <p:nvSpPr>
          <p:cNvPr id="7171" name="內容版面配置區 2">
            <a:extLst>
              <a:ext uri="{FF2B5EF4-FFF2-40B4-BE49-F238E27FC236}">
                <a16:creationId xmlns:a16="http://schemas.microsoft.com/office/drawing/2014/main" id="{160709B8-699A-A33C-8652-7201FD4F6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</a:rPr>
              <a:t>A={a1,a2} B={b1,b2} C={c1,c2}</a:t>
            </a:r>
          </a:p>
          <a:p>
            <a:pPr>
              <a:buFontTx/>
              <a:buNone/>
            </a:pPr>
            <a:endParaRPr lang="en-US" altLang="zh-TW">
              <a:latin typeface="Times New Roman" panose="02020603050405020304" pitchFamily="18" charset="0"/>
            </a:endParaRPr>
          </a:p>
          <a:p>
            <a:r>
              <a:rPr lang="en-US" altLang="zh-TW">
                <a:latin typeface="Times New Roman" panose="02020603050405020304" pitchFamily="18" charset="0"/>
              </a:rPr>
              <a:t>AxBxC = {(a1,b1,c1),(a1,b1,c2),(a1,b2,c1),(a1,b2,c2),(a2,b1,c1),(a2,b1,c2),(a2,b2,c1), (a2,b2,c2)}</a:t>
            </a:r>
            <a:endParaRPr lang="zh-TW" altLang="en-US">
              <a:latin typeface="Times New Roman" panose="02020603050405020304" pitchFamily="18" charset="0"/>
            </a:endParaRPr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DDD84489-151C-F894-D769-8305C69A3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C4DA5F9-0598-415C-9958-969376016223}" type="slidenum">
              <a:rPr kumimoji="1" lang="en-US" altLang="zh-TW">
                <a:latin typeface="Arial" panose="020B0604020202020204" pitchFamily="34" charset="0"/>
              </a:rPr>
              <a:pPr/>
              <a:t>33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編號版面配置區 3">
            <a:extLst>
              <a:ext uri="{FF2B5EF4-FFF2-40B4-BE49-F238E27FC236}">
                <a16:creationId xmlns:a16="http://schemas.microsoft.com/office/drawing/2014/main" id="{05B0F289-50E4-3AFA-3708-163E8417F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CDF3887-3FDD-4F46-8A35-13A9615D81D8}" type="slidenum">
              <a:rPr kumimoji="1" lang="en-US" altLang="zh-TW">
                <a:latin typeface="Arial" panose="020B0604020202020204" pitchFamily="34" charset="0"/>
              </a:rPr>
              <a:pPr/>
              <a:t>34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8195" name="標題 1">
            <a:extLst>
              <a:ext uri="{FF2B5EF4-FFF2-40B4-BE49-F238E27FC236}">
                <a16:creationId xmlns:a16="http://schemas.microsoft.com/office/drawing/2014/main" id="{AD5DCDDD-DAE6-23B0-13A5-629A61B609CB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Crisp relation</a:t>
            </a:r>
          </a:p>
        </p:txBody>
      </p:sp>
      <p:sp>
        <p:nvSpPr>
          <p:cNvPr id="8196" name="內容版面配置區 2">
            <a:extLst>
              <a:ext uri="{FF2B5EF4-FFF2-40B4-BE49-F238E27FC236}">
                <a16:creationId xmlns:a16="http://schemas.microsoft.com/office/drawing/2014/main" id="{21FF2CFA-3598-AA3D-D507-C23BC55B568A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crisp sets                       is a subset of the Cartesian product. It is denoted by    .</a:t>
            </a:r>
          </a:p>
          <a:p>
            <a:pPr algn="just"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algn="just">
              <a:buFontTx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membership function defines the crisp relation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just">
              <a:buFontTx/>
              <a:buNone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197" name="Object 5">
            <a:extLst>
              <a:ext uri="{FF2B5EF4-FFF2-40B4-BE49-F238E27FC236}">
                <a16:creationId xmlns:a16="http://schemas.microsoft.com/office/drawing/2014/main" id="{39803F99-EB23-47A3-ED2A-6DE5CE8C2A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259400"/>
              </p:ext>
            </p:extLst>
          </p:nvPr>
        </p:nvGraphicFramePr>
        <p:xfrm>
          <a:off x="2919941" y="2767119"/>
          <a:ext cx="30892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8100" imgH="228600" progId="Equation.DSMT4">
                  <p:embed/>
                </p:oleObj>
              </mc:Choice>
              <mc:Fallback>
                <p:oleObj name="Equation" r:id="rId2" imgW="1308100" imgH="228600" progId="Equation.DSMT4">
                  <p:embed/>
                  <p:pic>
                    <p:nvPicPr>
                      <p:cNvPr id="8197" name="Object 5">
                        <a:extLst>
                          <a:ext uri="{FF2B5EF4-FFF2-40B4-BE49-F238E27FC236}">
                            <a16:creationId xmlns:a16="http://schemas.microsoft.com/office/drawing/2014/main" id="{39803F99-EB23-47A3-ED2A-6DE5CE8C2A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941" y="2767119"/>
                        <a:ext cx="30892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>
            <a:extLst>
              <a:ext uri="{FF2B5EF4-FFF2-40B4-BE49-F238E27FC236}">
                <a16:creationId xmlns:a16="http://schemas.microsoft.com/office/drawing/2014/main" id="{298D730E-89AB-092B-87AB-07A5A0C32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962660"/>
              </p:ext>
            </p:extLst>
          </p:nvPr>
        </p:nvGraphicFramePr>
        <p:xfrm>
          <a:off x="1639253" y="4211744"/>
          <a:ext cx="6681788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70200" imgH="711200" progId="Equation.DSMT4">
                  <p:embed/>
                </p:oleObj>
              </mc:Choice>
              <mc:Fallback>
                <p:oleObj name="Equation" r:id="rId4" imgW="2870200" imgH="711200" progId="Equation.DSMT4">
                  <p:embed/>
                  <p:pic>
                    <p:nvPicPr>
                      <p:cNvPr id="8198" name="Object 6">
                        <a:extLst>
                          <a:ext uri="{FF2B5EF4-FFF2-40B4-BE49-F238E27FC236}">
                            <a16:creationId xmlns:a16="http://schemas.microsoft.com/office/drawing/2014/main" id="{298D730E-89AB-092B-87AB-07A5A0C32C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253" y="4211744"/>
                        <a:ext cx="6681788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9">
            <a:extLst>
              <a:ext uri="{FF2B5EF4-FFF2-40B4-BE49-F238E27FC236}">
                <a16:creationId xmlns:a16="http://schemas.microsoft.com/office/drawing/2014/main" id="{465D0CCC-68DA-163C-531C-B0855B4AAE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578740"/>
              </p:ext>
            </p:extLst>
          </p:nvPr>
        </p:nvGraphicFramePr>
        <p:xfrm>
          <a:off x="5384800" y="1402610"/>
          <a:ext cx="216058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28600" progId="Equation.DSMT4">
                  <p:embed/>
                </p:oleObj>
              </mc:Choice>
              <mc:Fallback>
                <p:oleObj name="Equation" r:id="rId6" imgW="914400" imgH="228600" progId="Equation.DSMT4">
                  <p:embed/>
                  <p:pic>
                    <p:nvPicPr>
                      <p:cNvPr id="8199" name="Object 9">
                        <a:extLst>
                          <a:ext uri="{FF2B5EF4-FFF2-40B4-BE49-F238E27FC236}">
                            <a16:creationId xmlns:a16="http://schemas.microsoft.com/office/drawing/2014/main" id="{465D0CCC-68DA-163C-531C-B0855B4AAE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800" y="1402610"/>
                        <a:ext cx="216058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10">
            <a:extLst>
              <a:ext uri="{FF2B5EF4-FFF2-40B4-BE49-F238E27FC236}">
                <a16:creationId xmlns:a16="http://schemas.microsoft.com/office/drawing/2014/main" id="{5E0B1388-8009-768F-0B46-EBB33C8C3D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713038"/>
          <a:ext cx="360362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64957" progId="Equation.DSMT4">
                  <p:embed/>
                </p:oleObj>
              </mc:Choice>
              <mc:Fallback>
                <p:oleObj name="Equation" r:id="rId8" imgW="152268" imgH="164957" progId="Equation.DSMT4">
                  <p:embed/>
                  <p:pic>
                    <p:nvPicPr>
                      <p:cNvPr id="8200" name="Object 10">
                        <a:extLst>
                          <a:ext uri="{FF2B5EF4-FFF2-40B4-BE49-F238E27FC236}">
                            <a16:creationId xmlns:a16="http://schemas.microsoft.com/office/drawing/2014/main" id="{5E0B1388-8009-768F-0B46-EBB33C8C3D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13038"/>
                        <a:ext cx="360362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投影片編號版面配置區 3">
            <a:extLst>
              <a:ext uri="{FF2B5EF4-FFF2-40B4-BE49-F238E27FC236}">
                <a16:creationId xmlns:a16="http://schemas.microsoft.com/office/drawing/2014/main" id="{053EDB92-F055-8696-19BB-B50632A5E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E4C0095-E1EE-449B-AD47-F16045DFF5F1}" type="slidenum">
              <a:rPr kumimoji="1" lang="en-US" altLang="zh-TW">
                <a:latin typeface="Arial" panose="020B0604020202020204" pitchFamily="34" charset="0"/>
              </a:rPr>
              <a:pPr/>
              <a:t>35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9219" name="標題 1">
            <a:extLst>
              <a:ext uri="{FF2B5EF4-FFF2-40B4-BE49-F238E27FC236}">
                <a16:creationId xmlns:a16="http://schemas.microsoft.com/office/drawing/2014/main" id="{713EE406-B469-D6FD-1AFA-2A3D5281B6D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Fuzzy relation</a:t>
            </a:r>
          </a:p>
        </p:txBody>
      </p:sp>
      <p:sp>
        <p:nvSpPr>
          <p:cNvPr id="9220" name="內容版面配置區 2">
            <a:extLst>
              <a:ext uri="{FF2B5EF4-FFF2-40B4-BE49-F238E27FC236}">
                <a16:creationId xmlns:a16="http://schemas.microsoft.com/office/drawing/2014/main" id="{CB6370E0-54A7-E272-AC19-D7FD2248A9E7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fuzzy relation </a:t>
            </a:r>
            <a:r>
              <a:rPr lang="en-US" altLang="en-US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is a fuzzy set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defined on the Cartesian product of crisp sets </a:t>
            </a:r>
            <a:r>
              <a:rPr lang="en-US" altLang="zh-TW" i="1">
                <a:latin typeface="Times New Roman" panose="02020603050405020304" pitchFamily="18" charset="0"/>
              </a:rPr>
              <a:t>A</a:t>
            </a:r>
            <a:r>
              <a:rPr lang="en-US" altLang="zh-TW" baseline="-25000">
                <a:latin typeface="Times New Roman" panose="02020603050405020304" pitchFamily="18" charset="0"/>
              </a:rPr>
              <a:t>1</a:t>
            </a:r>
            <a:r>
              <a:rPr lang="en-US" altLang="zh-TW">
                <a:latin typeface="Times New Roman" panose="02020603050405020304" pitchFamily="18" charset="0"/>
              </a:rPr>
              <a:t>, </a:t>
            </a:r>
            <a:r>
              <a:rPr lang="en-US" altLang="zh-TW" i="1">
                <a:latin typeface="Times New Roman" panose="02020603050405020304" pitchFamily="18" charset="0"/>
              </a:rPr>
              <a:t>A</a:t>
            </a:r>
            <a:r>
              <a:rPr lang="en-US" altLang="zh-TW" baseline="-25000">
                <a:latin typeface="Times New Roman" panose="02020603050405020304" pitchFamily="18" charset="0"/>
              </a:rPr>
              <a:t>2</a:t>
            </a:r>
            <a:r>
              <a:rPr lang="en-US" altLang="zh-TW">
                <a:latin typeface="Times New Roman" panose="02020603050405020304" pitchFamily="18" charset="0"/>
              </a:rPr>
              <a:t>, ..., </a:t>
            </a:r>
            <a:r>
              <a:rPr lang="en-US" altLang="zh-TW" i="1">
                <a:latin typeface="Times New Roman" panose="02020603050405020304" pitchFamily="18" charset="0"/>
              </a:rPr>
              <a:t>A</a:t>
            </a:r>
            <a:r>
              <a:rPr lang="en-US" altLang="zh-TW" i="1" baseline="-25000">
                <a:latin typeface="Times New Roman" panose="02020603050405020304" pitchFamily="18" charset="0"/>
              </a:rPr>
              <a:t>n</a:t>
            </a:r>
            <a:r>
              <a:rPr lang="en-US" altLang="zh-TW" i="1"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where tuples (</a:t>
            </a:r>
            <a:r>
              <a:rPr lang="en-US" altLang="zh-TW" i="1">
                <a:latin typeface="Times New Roman" panose="02020603050405020304" pitchFamily="18" charset="0"/>
              </a:rPr>
              <a:t>x</a:t>
            </a:r>
            <a:r>
              <a:rPr lang="en-US" altLang="zh-TW" baseline="-25000">
                <a:latin typeface="Times New Roman" panose="02020603050405020304" pitchFamily="18" charset="0"/>
              </a:rPr>
              <a:t>1</a:t>
            </a:r>
            <a:r>
              <a:rPr lang="en-US" altLang="zh-TW">
                <a:latin typeface="Times New Roman" panose="02020603050405020304" pitchFamily="18" charset="0"/>
              </a:rPr>
              <a:t>, </a:t>
            </a:r>
            <a:r>
              <a:rPr lang="en-US" altLang="zh-TW" i="1">
                <a:latin typeface="Times New Roman" panose="02020603050405020304" pitchFamily="18" charset="0"/>
              </a:rPr>
              <a:t>x</a:t>
            </a:r>
            <a:r>
              <a:rPr lang="en-US" altLang="zh-TW" baseline="-25000">
                <a:latin typeface="Times New Roman" panose="02020603050405020304" pitchFamily="18" charset="0"/>
              </a:rPr>
              <a:t>2</a:t>
            </a:r>
            <a:r>
              <a:rPr lang="en-US" altLang="zh-TW">
                <a:latin typeface="Times New Roman" panose="02020603050405020304" pitchFamily="18" charset="0"/>
              </a:rPr>
              <a:t>, ..., </a:t>
            </a:r>
            <a:r>
              <a:rPr lang="en-US" altLang="zh-TW" i="1">
                <a:latin typeface="Times New Roman" panose="02020603050405020304" pitchFamily="18" charset="0"/>
              </a:rPr>
              <a:t>x</a:t>
            </a:r>
            <a:r>
              <a:rPr lang="en-US" altLang="zh-TW" i="1" baseline="-25000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i="1"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may have varying degrees of membership within the relation.</a:t>
            </a:r>
            <a:endParaRPr lang="en-US" altLang="zh-TW">
              <a:latin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membership grade</a:t>
            </a:r>
            <a:r>
              <a:rPr lang="en-US" altLang="zh-TW"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the strength of the relation present between the elements of the tuple.</a:t>
            </a:r>
            <a:endParaRPr lang="en-US" altLang="zh-TW">
              <a:latin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9221" name="Object 5">
            <a:extLst>
              <a:ext uri="{FF2B5EF4-FFF2-40B4-BE49-F238E27FC236}">
                <a16:creationId xmlns:a16="http://schemas.microsoft.com/office/drawing/2014/main" id="{A37139DB-D213-19DA-C5A4-A93EA43692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300663"/>
          <a:ext cx="82613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32300" imgH="482600" progId="Equation.DSMT4">
                  <p:embed/>
                </p:oleObj>
              </mc:Choice>
              <mc:Fallback>
                <p:oleObj name="Equation" r:id="rId3" imgW="4432300" imgH="482600" progId="Equation.DSMT4">
                  <p:embed/>
                  <p:pic>
                    <p:nvPicPr>
                      <p:cNvPr id="9221" name="Object 5">
                        <a:extLst>
                          <a:ext uri="{FF2B5EF4-FFF2-40B4-BE49-F238E27FC236}">
                            <a16:creationId xmlns:a16="http://schemas.microsoft.com/office/drawing/2014/main" id="{A37139DB-D213-19DA-C5A4-A93EA43692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00663"/>
                        <a:ext cx="826135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投影片編號版面配置區 5">
            <a:extLst>
              <a:ext uri="{FF2B5EF4-FFF2-40B4-BE49-F238E27FC236}">
                <a16:creationId xmlns:a16="http://schemas.microsoft.com/office/drawing/2014/main" id="{495B89EA-C533-CEC5-58B4-A07732DC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72304DF-F213-462F-B4FA-76664459FBA0}" type="slidenum">
              <a:rPr kumimoji="1" lang="en-US" altLang="zh-TW">
                <a:latin typeface="Arial" panose="020B0604020202020204" pitchFamily="34" charset="0"/>
              </a:rPr>
              <a:pPr/>
              <a:t>36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E47992C-DC29-5B65-1746-DABD9B39B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methods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52FE01E-3A7D-41DC-C04D-B54033C0F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Bipartigraph</a:t>
            </a:r>
          </a:p>
          <a:p>
            <a:endParaRPr lang="en-US" altLang="zh-TW">
              <a:cs typeface="Times New Roman" panose="02020603050405020304" pitchFamily="18" charset="0"/>
            </a:endParaRPr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1ED21CF5-0BA1-7718-3BE4-3AB03860A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420938"/>
            <a:ext cx="4464050" cy="330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C263AFD9-8BA6-29BE-CF77-9D9A216BA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470150"/>
            <a:ext cx="4356100" cy="326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47" name="Group 9">
            <a:extLst>
              <a:ext uri="{FF2B5EF4-FFF2-40B4-BE49-F238E27FC236}">
                <a16:creationId xmlns:a16="http://schemas.microsoft.com/office/drawing/2014/main" id="{733BBBAB-53F4-D57B-DB72-721781924304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5661025"/>
            <a:ext cx="5440363" cy="369888"/>
            <a:chOff x="1292" y="3566"/>
            <a:chExt cx="3427" cy="233"/>
          </a:xfrm>
        </p:grpSpPr>
        <p:sp>
          <p:nvSpPr>
            <p:cNvPr id="10248" name="Text Box 7">
              <a:extLst>
                <a:ext uri="{FF2B5EF4-FFF2-40B4-BE49-F238E27FC236}">
                  <a16:creationId xmlns:a16="http://schemas.microsoft.com/office/drawing/2014/main" id="{8D048AFB-E491-7CD1-3C76-C19872EC3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3566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kumimoji="1" lang="en-US" altLang="zh-TW">
                  <a:latin typeface="Arial" panose="020B0604020202020204" pitchFamily="34" charset="0"/>
                </a:rPr>
                <a:t>(</a:t>
              </a:r>
              <a:r>
                <a:rPr kumimoji="1" lang="en-US" altLang="zh-TW">
                  <a:latin typeface="Times New Roman" panose="02020603050405020304" pitchFamily="18" charset="0"/>
                  <a:cs typeface="Times New Roman" panose="02020603050405020304" pitchFamily="18" charset="0"/>
                </a:rPr>
                <a:t>Crisp</a:t>
              </a:r>
              <a:r>
                <a:rPr kumimoji="1" lang="en-US" altLang="zh-TW">
                  <a:latin typeface="Arial" panose="020B0604020202020204" pitchFamily="34" charset="0"/>
                </a:rPr>
                <a:t>)</a:t>
              </a:r>
            </a:p>
          </p:txBody>
        </p:sp>
        <p:sp>
          <p:nvSpPr>
            <p:cNvPr id="10249" name="Text Box 8">
              <a:extLst>
                <a:ext uri="{FF2B5EF4-FFF2-40B4-BE49-F238E27FC236}">
                  <a16:creationId xmlns:a16="http://schemas.microsoft.com/office/drawing/2014/main" id="{E5F11374-6555-EB5D-4C14-1B120C6C2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3566"/>
              <a:ext cx="56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kumimoji="1" lang="en-US" altLang="zh-TW">
                  <a:latin typeface="Times New Roman" panose="02020603050405020304" pitchFamily="18" charset="0"/>
                  <a:cs typeface="Times New Roman" panose="02020603050405020304" pitchFamily="18" charset="0"/>
                </a:rPr>
                <a:t>(Fuzzy)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編號版面配置區 5">
            <a:extLst>
              <a:ext uri="{FF2B5EF4-FFF2-40B4-BE49-F238E27FC236}">
                <a16:creationId xmlns:a16="http://schemas.microsoft.com/office/drawing/2014/main" id="{CCF80A36-815B-1232-EB4E-3966C354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D538662-6859-413B-A92F-63E49B13E4F5}" type="slidenum">
              <a:rPr kumimoji="1" lang="en-US" altLang="zh-TW">
                <a:latin typeface="Arial" panose="020B0604020202020204" pitchFamily="34" charset="0"/>
              </a:rPr>
              <a:pPr/>
              <a:t>37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2F22C84-C000-55D2-CF48-AA15EA9A4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methods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50219370-728C-4330-DD21-993E9A685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</a:p>
        </p:txBody>
      </p:sp>
      <p:pic>
        <p:nvPicPr>
          <p:cNvPr id="11269" name="Picture 4">
            <a:extLst>
              <a:ext uri="{FF2B5EF4-FFF2-40B4-BE49-F238E27FC236}">
                <a16:creationId xmlns:a16="http://schemas.microsoft.com/office/drawing/2014/main" id="{84E6EF3D-7DEE-60AF-2EA0-F7A6E9E5E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4" t="13989"/>
          <a:stretch>
            <a:fillRect/>
          </a:stretch>
        </p:blipFill>
        <p:spPr bwMode="auto">
          <a:xfrm>
            <a:off x="4787900" y="2781300"/>
            <a:ext cx="424815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70" name="Group 5">
            <a:extLst>
              <a:ext uri="{FF2B5EF4-FFF2-40B4-BE49-F238E27FC236}">
                <a16:creationId xmlns:a16="http://schemas.microsoft.com/office/drawing/2014/main" id="{CA9DBA48-2CDA-D416-8147-0CCEC3C84F0B}"/>
              </a:ext>
            </a:extLst>
          </p:cNvPr>
          <p:cNvGrpSpPr>
            <a:grpSpLocks/>
          </p:cNvGrpSpPr>
          <p:nvPr/>
        </p:nvGrpSpPr>
        <p:grpSpPr bwMode="auto">
          <a:xfrm>
            <a:off x="1897063" y="5300663"/>
            <a:ext cx="5440362" cy="369887"/>
            <a:chOff x="1292" y="3566"/>
            <a:chExt cx="3427" cy="233"/>
          </a:xfrm>
        </p:grpSpPr>
        <p:sp>
          <p:nvSpPr>
            <p:cNvPr id="11283" name="Text Box 6">
              <a:extLst>
                <a:ext uri="{FF2B5EF4-FFF2-40B4-BE49-F238E27FC236}">
                  <a16:creationId xmlns:a16="http://schemas.microsoft.com/office/drawing/2014/main" id="{7B45A004-5A34-5877-94A9-C3E4C061C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3566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kumimoji="1" lang="en-US" altLang="zh-TW">
                  <a:latin typeface="Times New Roman" panose="02020603050405020304" pitchFamily="18" charset="0"/>
                  <a:cs typeface="Times New Roman" panose="02020603050405020304" pitchFamily="18" charset="0"/>
                </a:rPr>
                <a:t>(Crisp)</a:t>
              </a:r>
            </a:p>
          </p:txBody>
        </p:sp>
        <p:sp>
          <p:nvSpPr>
            <p:cNvPr id="11284" name="Text Box 7">
              <a:extLst>
                <a:ext uri="{FF2B5EF4-FFF2-40B4-BE49-F238E27FC236}">
                  <a16:creationId xmlns:a16="http://schemas.microsoft.com/office/drawing/2014/main" id="{F7711C7D-EF97-88E5-26F3-4A2C5D9BC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3566"/>
              <a:ext cx="56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kumimoji="1" lang="en-US" altLang="zh-TW">
                  <a:latin typeface="Times New Roman" panose="02020603050405020304" pitchFamily="18" charset="0"/>
                  <a:cs typeface="Times New Roman" panose="02020603050405020304" pitchFamily="18" charset="0"/>
                </a:rPr>
                <a:t>(Fuzzy)</a:t>
              </a:r>
            </a:p>
          </p:txBody>
        </p:sp>
      </p:grpSp>
      <p:pic>
        <p:nvPicPr>
          <p:cNvPr id="11271" name="Picture 8">
            <a:extLst>
              <a:ext uri="{FF2B5EF4-FFF2-40B4-BE49-F238E27FC236}">
                <a16:creationId xmlns:a16="http://schemas.microsoft.com/office/drawing/2014/main" id="{1E24B21C-2237-7C8E-461E-423864A4C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4" t="13536"/>
          <a:stretch>
            <a:fillRect/>
          </a:stretch>
        </p:blipFill>
        <p:spPr bwMode="auto">
          <a:xfrm>
            <a:off x="179388" y="2781300"/>
            <a:ext cx="4319587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2" name="文字方塊 10">
            <a:extLst>
              <a:ext uri="{FF2B5EF4-FFF2-40B4-BE49-F238E27FC236}">
                <a16:creationId xmlns:a16="http://schemas.microsoft.com/office/drawing/2014/main" id="{52ECDA37-11F4-05CD-7BC6-FAA18FD2A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916238"/>
            <a:ext cx="3097212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kumimoji="1" lang="en-US" altLang="zh-TW">
                <a:latin typeface="Arial" panose="020B0604020202020204" pitchFamily="34" charset="0"/>
              </a:rPr>
              <a:t> </a:t>
            </a:r>
            <a:endParaRPr kumimoji="1" lang="zh-TW" altLang="en-US">
              <a:latin typeface="Arial" panose="020B0604020202020204" pitchFamily="34" charset="0"/>
            </a:endParaRPr>
          </a:p>
        </p:txBody>
      </p:sp>
      <p:graphicFrame>
        <p:nvGraphicFramePr>
          <p:cNvPr id="11273" name="Object 10">
            <a:extLst>
              <a:ext uri="{FF2B5EF4-FFF2-40B4-BE49-F238E27FC236}">
                <a16:creationId xmlns:a16="http://schemas.microsoft.com/office/drawing/2014/main" id="{49CF08B1-B086-2B80-7EA4-A97279606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7138" y="2924175"/>
          <a:ext cx="30607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3200" imgH="228600" progId="Equation.DSMT4">
                  <p:embed/>
                </p:oleObj>
              </mc:Choice>
              <mc:Fallback>
                <p:oleObj name="Equation" r:id="rId4" imgW="1473200" imgH="228600" progId="Equation.DSMT4">
                  <p:embed/>
                  <p:pic>
                    <p:nvPicPr>
                      <p:cNvPr id="11273" name="Object 10">
                        <a:extLst>
                          <a:ext uri="{FF2B5EF4-FFF2-40B4-BE49-F238E27FC236}">
                            <a16:creationId xmlns:a16="http://schemas.microsoft.com/office/drawing/2014/main" id="{49CF08B1-B086-2B80-7EA4-A97279606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2924175"/>
                        <a:ext cx="306070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文字方塊 11">
            <a:extLst>
              <a:ext uri="{FF2B5EF4-FFF2-40B4-BE49-F238E27FC236}">
                <a16:creationId xmlns:a16="http://schemas.microsoft.com/office/drawing/2014/main" id="{C6AD7FAB-D826-C08C-9584-6CB849998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852738"/>
            <a:ext cx="309721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kumimoji="1" lang="en-US" altLang="zh-TW">
                <a:latin typeface="Arial" panose="020B0604020202020204" pitchFamily="34" charset="0"/>
              </a:rPr>
              <a:t> </a:t>
            </a:r>
            <a:endParaRPr kumimoji="1" lang="zh-TW" altLang="en-US">
              <a:latin typeface="Arial" panose="020B0604020202020204" pitchFamily="34" charset="0"/>
            </a:endParaRPr>
          </a:p>
        </p:txBody>
      </p:sp>
      <p:sp>
        <p:nvSpPr>
          <p:cNvPr id="11275" name="文字方塊 12">
            <a:extLst>
              <a:ext uri="{FF2B5EF4-FFF2-40B4-BE49-F238E27FC236}">
                <a16:creationId xmlns:a16="http://schemas.microsoft.com/office/drawing/2014/main" id="{42132BB3-E6F6-BABD-F9D1-1980A9DE2B6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45281" y="4233069"/>
            <a:ext cx="16891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kumimoji="1" lang="en-US" altLang="zh-TW">
                <a:latin typeface="Arial" panose="020B0604020202020204" pitchFamily="34" charset="0"/>
              </a:rPr>
              <a:t> </a:t>
            </a:r>
            <a:endParaRPr kumimoji="1" lang="zh-TW" altLang="en-US">
              <a:latin typeface="Arial" panose="020B0604020202020204" pitchFamily="34" charset="0"/>
            </a:endParaRPr>
          </a:p>
        </p:txBody>
      </p:sp>
      <p:sp>
        <p:nvSpPr>
          <p:cNvPr id="11276" name="文字方塊 13">
            <a:extLst>
              <a:ext uri="{FF2B5EF4-FFF2-40B4-BE49-F238E27FC236}">
                <a16:creationId xmlns:a16="http://schemas.microsoft.com/office/drawing/2014/main" id="{270057C5-3201-A8EB-FB25-60BAFDFA437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4263232" y="4233069"/>
            <a:ext cx="16891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kumimoji="1" lang="en-US" altLang="zh-TW">
                <a:latin typeface="Arial" panose="020B0604020202020204" pitchFamily="34" charset="0"/>
              </a:rPr>
              <a:t> </a:t>
            </a:r>
            <a:endParaRPr kumimoji="1" lang="zh-TW" altLang="en-US">
              <a:latin typeface="Arial" panose="020B0604020202020204" pitchFamily="34" charset="0"/>
            </a:endParaRPr>
          </a:p>
        </p:txBody>
      </p:sp>
      <p:sp>
        <p:nvSpPr>
          <p:cNvPr id="11277" name="文字方塊 14">
            <a:extLst>
              <a:ext uri="{FF2B5EF4-FFF2-40B4-BE49-F238E27FC236}">
                <a16:creationId xmlns:a16="http://schemas.microsoft.com/office/drawing/2014/main" id="{F30EEE1C-2A02-1A04-6AE5-CB09725A13E2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192881" y="4385469"/>
            <a:ext cx="16891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kumimoji="1" lang="en-US" altLang="zh-TW">
                <a:latin typeface="Arial" panose="020B0604020202020204" pitchFamily="34" charset="0"/>
              </a:rPr>
              <a:t> </a:t>
            </a:r>
            <a:endParaRPr kumimoji="1" lang="zh-TW" altLang="en-US">
              <a:latin typeface="Arial" panose="020B0604020202020204" pitchFamily="34" charset="0"/>
            </a:endParaRPr>
          </a:p>
        </p:txBody>
      </p:sp>
      <p:graphicFrame>
        <p:nvGraphicFramePr>
          <p:cNvPr id="11278" name="Object 12">
            <a:extLst>
              <a:ext uri="{FF2B5EF4-FFF2-40B4-BE49-F238E27FC236}">
                <a16:creationId xmlns:a16="http://schemas.microsoft.com/office/drawing/2014/main" id="{B4553DB0-FEFB-65B6-6D51-48E125ADD1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575" y="3429000"/>
          <a:ext cx="719138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914400" progId="Equation.DSMT4">
                  <p:embed/>
                </p:oleObj>
              </mc:Choice>
              <mc:Fallback>
                <p:oleObj name="Equation" r:id="rId6" imgW="419100" imgH="914400" progId="Equation.DSMT4">
                  <p:embed/>
                  <p:pic>
                    <p:nvPicPr>
                      <p:cNvPr id="11278" name="Object 12">
                        <a:extLst>
                          <a:ext uri="{FF2B5EF4-FFF2-40B4-BE49-F238E27FC236}">
                            <a16:creationId xmlns:a16="http://schemas.microsoft.com/office/drawing/2014/main" id="{B4553DB0-FEFB-65B6-6D51-48E125ADD1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3429000"/>
                        <a:ext cx="719138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9" name="Object 13">
            <a:extLst>
              <a:ext uri="{FF2B5EF4-FFF2-40B4-BE49-F238E27FC236}">
                <a16:creationId xmlns:a16="http://schemas.microsoft.com/office/drawing/2014/main" id="{3B42EAC4-DFA3-6C18-297A-9F6A5FC881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3625" y="3443288"/>
          <a:ext cx="719138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914400" progId="Equation.DSMT4">
                  <p:embed/>
                </p:oleObj>
              </mc:Choice>
              <mc:Fallback>
                <p:oleObj name="Equation" r:id="rId8" imgW="419100" imgH="914400" progId="Equation.DSMT4">
                  <p:embed/>
                  <p:pic>
                    <p:nvPicPr>
                      <p:cNvPr id="11279" name="Object 13">
                        <a:extLst>
                          <a:ext uri="{FF2B5EF4-FFF2-40B4-BE49-F238E27FC236}">
                            <a16:creationId xmlns:a16="http://schemas.microsoft.com/office/drawing/2014/main" id="{3B42EAC4-DFA3-6C18-297A-9F6A5FC881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25" y="3443288"/>
                        <a:ext cx="719138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0" name="Object 14">
            <a:extLst>
              <a:ext uri="{FF2B5EF4-FFF2-40B4-BE49-F238E27FC236}">
                <a16:creationId xmlns:a16="http://schemas.microsoft.com/office/drawing/2014/main" id="{594EC5FF-D754-2CFF-79D9-257E06EE88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4538" y="2938463"/>
          <a:ext cx="30607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73200" imgH="228600" progId="Equation.DSMT4">
                  <p:embed/>
                </p:oleObj>
              </mc:Choice>
              <mc:Fallback>
                <p:oleObj name="Equation" r:id="rId9" imgW="1473200" imgH="228600" progId="Equation.DSMT4">
                  <p:embed/>
                  <p:pic>
                    <p:nvPicPr>
                      <p:cNvPr id="11280" name="Object 14">
                        <a:extLst>
                          <a:ext uri="{FF2B5EF4-FFF2-40B4-BE49-F238E27FC236}">
                            <a16:creationId xmlns:a16="http://schemas.microsoft.com/office/drawing/2014/main" id="{594EC5FF-D754-2CFF-79D9-257E06EE88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2938463"/>
                        <a:ext cx="30607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Object 15">
            <a:extLst>
              <a:ext uri="{FF2B5EF4-FFF2-40B4-BE49-F238E27FC236}">
                <a16:creationId xmlns:a16="http://schemas.microsoft.com/office/drawing/2014/main" id="{9D0775F8-23B8-D992-9575-BA37BAEBE8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" y="2781300"/>
          <a:ext cx="249238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68" imgH="164957" progId="Equation.DSMT4">
                  <p:embed/>
                </p:oleObj>
              </mc:Choice>
              <mc:Fallback>
                <p:oleObj name="Equation" r:id="rId11" imgW="152268" imgH="164957" progId="Equation.DSMT4">
                  <p:embed/>
                  <p:pic>
                    <p:nvPicPr>
                      <p:cNvPr id="11281" name="Object 15">
                        <a:extLst>
                          <a:ext uri="{FF2B5EF4-FFF2-40B4-BE49-F238E27FC236}">
                            <a16:creationId xmlns:a16="http://schemas.microsoft.com/office/drawing/2014/main" id="{9D0775F8-23B8-D992-9575-BA37BAEBE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" y="2781300"/>
                        <a:ext cx="249238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2" name="Object 16">
            <a:extLst>
              <a:ext uri="{FF2B5EF4-FFF2-40B4-BE49-F238E27FC236}">
                <a16:creationId xmlns:a16="http://schemas.microsoft.com/office/drawing/2014/main" id="{F811031A-52A5-1C97-0B1C-F00E95A166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6363" y="2781300"/>
          <a:ext cx="249237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268" imgH="164957" progId="Equation.DSMT4">
                  <p:embed/>
                </p:oleObj>
              </mc:Choice>
              <mc:Fallback>
                <p:oleObj name="Equation" r:id="rId13" imgW="152268" imgH="164957" progId="Equation.DSMT4">
                  <p:embed/>
                  <p:pic>
                    <p:nvPicPr>
                      <p:cNvPr id="11282" name="Object 16">
                        <a:extLst>
                          <a:ext uri="{FF2B5EF4-FFF2-40B4-BE49-F238E27FC236}">
                            <a16:creationId xmlns:a16="http://schemas.microsoft.com/office/drawing/2014/main" id="{F811031A-52A5-1C97-0B1C-F00E95A166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3" y="2781300"/>
                        <a:ext cx="249237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編號版面配置區 3">
            <a:extLst>
              <a:ext uri="{FF2B5EF4-FFF2-40B4-BE49-F238E27FC236}">
                <a16:creationId xmlns:a16="http://schemas.microsoft.com/office/drawing/2014/main" id="{5DB471C8-EC3F-F176-5CBD-74504BDB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21E14B7-E554-4CE9-A5A6-20D663F55EFF}" type="slidenum">
              <a:rPr kumimoji="1" lang="en-US" altLang="zh-TW">
                <a:latin typeface="Arial" panose="020B0604020202020204" pitchFamily="34" charset="0"/>
              </a:rPr>
              <a:pPr/>
              <a:t>38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15363" name="標題 1">
            <a:extLst>
              <a:ext uri="{FF2B5EF4-FFF2-40B4-BE49-F238E27FC236}">
                <a16:creationId xmlns:a16="http://schemas.microsoft.com/office/drawing/2014/main" id="{81E7064B-9299-8125-FEC8-4AE2E087FFF4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fuzzy matrices</a:t>
            </a:r>
          </a:p>
        </p:txBody>
      </p:sp>
      <p:sp>
        <p:nvSpPr>
          <p:cNvPr id="15364" name="內容版面配置區 2">
            <a:extLst>
              <a:ext uri="{FF2B5EF4-FFF2-40B4-BE49-F238E27FC236}">
                <a16:creationId xmlns:a16="http://schemas.microsoft.com/office/drawing/2014/main" id="{49D04893-485E-686B-504B-12786C7C0FC5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Sum: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just"/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365" name="Object 2">
            <a:extLst>
              <a:ext uri="{FF2B5EF4-FFF2-40B4-BE49-F238E27FC236}">
                <a16:creationId xmlns:a16="http://schemas.microsoft.com/office/drawing/2014/main" id="{4A8F0CC9-00F4-1E5B-7015-27C6AD9C1C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689100"/>
          <a:ext cx="29337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366" imgH="241195" progId="Equation.DSMT4">
                  <p:embed/>
                </p:oleObj>
              </mc:Choice>
              <mc:Fallback>
                <p:oleObj name="Equation" r:id="rId2" imgW="1231366" imgH="241195" progId="Equation.DSMT4">
                  <p:embed/>
                  <p:pic>
                    <p:nvPicPr>
                      <p:cNvPr id="15365" name="Object 2">
                        <a:extLst>
                          <a:ext uri="{FF2B5EF4-FFF2-40B4-BE49-F238E27FC236}">
                            <a16:creationId xmlns:a16="http://schemas.microsoft.com/office/drawing/2014/main" id="{4A8F0CC9-00F4-1E5B-7015-27C6AD9C1C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689100"/>
                        <a:ext cx="29337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6" name="Picture 4">
            <a:extLst>
              <a:ext uri="{FF2B5EF4-FFF2-40B4-BE49-F238E27FC236}">
                <a16:creationId xmlns:a16="http://schemas.microsoft.com/office/drawing/2014/main" id="{203D3B63-5B62-23C9-F0C8-18D0D10C9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2849634"/>
            <a:ext cx="426085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5">
            <a:extLst>
              <a:ext uri="{FF2B5EF4-FFF2-40B4-BE49-F238E27FC236}">
                <a16:creationId xmlns:a16="http://schemas.microsoft.com/office/drawing/2014/main" id="{9EB4B72B-3D1A-B715-B397-C1978A98B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313" y="2799292"/>
            <a:ext cx="41656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6">
            <a:extLst>
              <a:ext uri="{FF2B5EF4-FFF2-40B4-BE49-F238E27FC236}">
                <a16:creationId xmlns:a16="http://schemas.microsoft.com/office/drawing/2014/main" id="{DDAB9A25-1BF7-96C9-79FB-4D82D26AA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4537605"/>
            <a:ext cx="4368800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投影片編號版面配置區 3">
            <a:extLst>
              <a:ext uri="{FF2B5EF4-FFF2-40B4-BE49-F238E27FC236}">
                <a16:creationId xmlns:a16="http://schemas.microsoft.com/office/drawing/2014/main" id="{78BBAF98-EC23-E131-87CC-572547FF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FFAACE3-4C8B-4729-A01D-2BE85135AFB9}" type="slidenum">
              <a:rPr kumimoji="1" lang="en-US" altLang="zh-TW">
                <a:latin typeface="Arial" panose="020B0604020202020204" pitchFamily="34" charset="0"/>
              </a:rPr>
              <a:pPr/>
              <a:t>39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16387" name="標題 1">
            <a:extLst>
              <a:ext uri="{FF2B5EF4-FFF2-40B4-BE49-F238E27FC236}">
                <a16:creationId xmlns:a16="http://schemas.microsoft.com/office/drawing/2014/main" id="{EFA94A8B-C9F8-3614-A767-215E73914068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fuzzy matrices</a:t>
            </a:r>
          </a:p>
        </p:txBody>
      </p:sp>
      <p:sp>
        <p:nvSpPr>
          <p:cNvPr id="16388" name="內容版面配置區 2">
            <a:extLst>
              <a:ext uri="{FF2B5EF4-FFF2-40B4-BE49-F238E27FC236}">
                <a16:creationId xmlns:a16="http://schemas.microsoft.com/office/drawing/2014/main" id="{2C735716-71E4-FD34-1204-B396FD234AE2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Max product: C = A</a:t>
            </a:r>
            <a:r>
              <a:rPr lang="zh-TW" altLang="en-US" sz="2800">
                <a:latin typeface="新細明體" panose="02020500000000000000" pitchFamily="18" charset="-120"/>
                <a:cs typeface="Times New Roman" panose="02020603050405020304" pitchFamily="18" charset="0"/>
              </a:rPr>
              <a:t>・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B=AB=</a:t>
            </a:r>
          </a:p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9" name="Picture 4">
            <a:extLst>
              <a:ext uri="{FF2B5EF4-FFF2-40B4-BE49-F238E27FC236}">
                <a16:creationId xmlns:a16="http://schemas.microsoft.com/office/drawing/2014/main" id="{EF5A8824-1F74-ACB5-C4DA-099E6C52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92488"/>
            <a:ext cx="426085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5">
            <a:extLst>
              <a:ext uri="{FF2B5EF4-FFF2-40B4-BE49-F238E27FC236}">
                <a16:creationId xmlns:a16="http://schemas.microsoft.com/office/drawing/2014/main" id="{4DE7FA1C-EEB3-CE14-FE03-5D727AD88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3473450"/>
            <a:ext cx="41656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874D9DC-0439-2888-520F-58195F517F6B}"/>
              </a:ext>
            </a:extLst>
          </p:cNvPr>
          <p:cNvSpPr/>
          <p:nvPr/>
        </p:nvSpPr>
        <p:spPr>
          <a:xfrm>
            <a:off x="2484438" y="3860800"/>
            <a:ext cx="1871662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A21E22-2ED5-F840-BCAE-2AF54B1B35EF}"/>
              </a:ext>
            </a:extLst>
          </p:cNvPr>
          <p:cNvSpPr/>
          <p:nvPr/>
        </p:nvSpPr>
        <p:spPr>
          <a:xfrm>
            <a:off x="7596188" y="3860800"/>
            <a:ext cx="504825" cy="1008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graphicFrame>
        <p:nvGraphicFramePr>
          <p:cNvPr id="16393" name="Object 10">
            <a:extLst>
              <a:ext uri="{FF2B5EF4-FFF2-40B4-BE49-F238E27FC236}">
                <a16:creationId xmlns:a16="http://schemas.microsoft.com/office/drawing/2014/main" id="{F128FB07-3136-52C8-738C-7A4B84B902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5589588"/>
          <a:ext cx="10874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" imgH="228600" progId="Equation.DSMT4">
                  <p:embed/>
                </p:oleObj>
              </mc:Choice>
              <mc:Fallback>
                <p:oleObj name="Equation" r:id="rId4" imgW="457200" imgH="228600" progId="Equation.DSMT4">
                  <p:embed/>
                  <p:pic>
                    <p:nvPicPr>
                      <p:cNvPr id="16393" name="Object 10">
                        <a:extLst>
                          <a:ext uri="{FF2B5EF4-FFF2-40B4-BE49-F238E27FC236}">
                            <a16:creationId xmlns:a16="http://schemas.microsoft.com/office/drawing/2014/main" id="{F128FB07-3136-52C8-738C-7A4B84B902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589588"/>
                        <a:ext cx="10874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4" name="Picture 11">
            <a:extLst>
              <a:ext uri="{FF2B5EF4-FFF2-40B4-BE49-F238E27FC236}">
                <a16:creationId xmlns:a16="http://schemas.microsoft.com/office/drawing/2014/main" id="{802FF335-8B34-7DBE-71EF-538977D87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1644650"/>
            <a:ext cx="28956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編號版面配置區 3">
            <a:extLst>
              <a:ext uri="{FF2B5EF4-FFF2-40B4-BE49-F238E27FC236}">
                <a16:creationId xmlns:a16="http://schemas.microsoft.com/office/drawing/2014/main" id="{F56CC35C-BB26-76F2-D762-E762D2AA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05E9762-3A77-4A1B-9BD2-ABEFA7442C8C}" type="slidenum">
              <a:rPr kumimoji="1" lang="en-US" altLang="zh-TW">
                <a:latin typeface="Arial" panose="020B0604020202020204" pitchFamily="34" charset="0"/>
              </a:rPr>
              <a:pPr/>
              <a:t>40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17411" name="標題 1">
            <a:extLst>
              <a:ext uri="{FF2B5EF4-FFF2-40B4-BE49-F238E27FC236}">
                <a16:creationId xmlns:a16="http://schemas.microsoft.com/office/drawing/2014/main" id="{59F184D6-9756-826A-7537-3E1BEE189395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Max product</a:t>
            </a:r>
          </a:p>
        </p:txBody>
      </p:sp>
      <p:sp>
        <p:nvSpPr>
          <p:cNvPr id="17412" name="內容版面配置區 2">
            <a:extLst>
              <a:ext uri="{FF2B5EF4-FFF2-40B4-BE49-F238E27FC236}">
                <a16:creationId xmlns:a16="http://schemas.microsoft.com/office/drawing/2014/main" id="{7130E54F-E8D8-A5B4-C62B-4C73102BAAA0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3" name="Picture 4">
            <a:extLst>
              <a:ext uri="{FF2B5EF4-FFF2-40B4-BE49-F238E27FC236}">
                <a16:creationId xmlns:a16="http://schemas.microsoft.com/office/drawing/2014/main" id="{BDEA23D6-FA88-3351-8DF7-FE789481A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166938"/>
            <a:ext cx="426085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5">
            <a:extLst>
              <a:ext uri="{FF2B5EF4-FFF2-40B4-BE49-F238E27FC236}">
                <a16:creationId xmlns:a16="http://schemas.microsoft.com/office/drawing/2014/main" id="{C05530D1-9A66-40C4-5785-A7A9A9530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2247900"/>
            <a:ext cx="41656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68FEEA2-9E43-4C6D-29F9-B73BFDED4120}"/>
              </a:ext>
            </a:extLst>
          </p:cNvPr>
          <p:cNvSpPr/>
          <p:nvPr/>
        </p:nvSpPr>
        <p:spPr>
          <a:xfrm>
            <a:off x="2484438" y="2636838"/>
            <a:ext cx="1871662" cy="287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927071-9FC5-A538-C1D2-7440843E5A36}"/>
              </a:ext>
            </a:extLst>
          </p:cNvPr>
          <p:cNvSpPr/>
          <p:nvPr/>
        </p:nvSpPr>
        <p:spPr>
          <a:xfrm>
            <a:off x="7624763" y="2636838"/>
            <a:ext cx="503237" cy="1008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17417" name="Picture 3">
            <a:extLst>
              <a:ext uri="{FF2B5EF4-FFF2-40B4-BE49-F238E27FC236}">
                <a16:creationId xmlns:a16="http://schemas.microsoft.com/office/drawing/2014/main" id="{5F901D89-25AB-2D57-69F6-60F20E144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5070475"/>
            <a:ext cx="49339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418" name="Object 5">
            <a:extLst>
              <a:ext uri="{FF2B5EF4-FFF2-40B4-BE49-F238E27FC236}">
                <a16:creationId xmlns:a16="http://schemas.microsoft.com/office/drawing/2014/main" id="{C0FF8C09-5B86-8CCE-A7BB-566982253D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5862638"/>
          <a:ext cx="13604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252" imgH="228501" progId="Equation.DSMT4">
                  <p:embed/>
                </p:oleObj>
              </mc:Choice>
              <mc:Fallback>
                <p:oleObj name="Equation" r:id="rId5" imgW="571252" imgH="228501" progId="Equation.DSMT4">
                  <p:embed/>
                  <p:pic>
                    <p:nvPicPr>
                      <p:cNvPr id="17418" name="Object 5">
                        <a:extLst>
                          <a:ext uri="{FF2B5EF4-FFF2-40B4-BE49-F238E27FC236}">
                            <a16:creationId xmlns:a16="http://schemas.microsoft.com/office/drawing/2014/main" id="{C0FF8C09-5B86-8CCE-A7BB-566982253D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5862638"/>
                        <a:ext cx="13604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向右箭號 12">
            <a:extLst>
              <a:ext uri="{FF2B5EF4-FFF2-40B4-BE49-F238E27FC236}">
                <a16:creationId xmlns:a16="http://schemas.microsoft.com/office/drawing/2014/main" id="{21494AA2-D6C0-7B02-8C0D-2FE64A6C3E42}"/>
              </a:ext>
            </a:extLst>
          </p:cNvPr>
          <p:cNvSpPr/>
          <p:nvPr/>
        </p:nvSpPr>
        <p:spPr>
          <a:xfrm>
            <a:off x="5724525" y="6035675"/>
            <a:ext cx="503238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17420" name="Picture 13">
            <a:extLst>
              <a:ext uri="{FF2B5EF4-FFF2-40B4-BE49-F238E27FC236}">
                <a16:creationId xmlns:a16="http://schemas.microsoft.com/office/drawing/2014/main" id="{358549AF-BCCE-E3D4-7430-F527C7113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149725"/>
            <a:ext cx="5534025" cy="66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投影片編號版面配置區 3">
            <a:extLst>
              <a:ext uri="{FF2B5EF4-FFF2-40B4-BE49-F238E27FC236}">
                <a16:creationId xmlns:a16="http://schemas.microsoft.com/office/drawing/2014/main" id="{91E4394A-AC58-0F50-72EC-EE0605EE2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2448971-4A0D-4C13-A4E1-67922E50871D}" type="slidenum">
              <a:rPr kumimoji="1" lang="en-US" altLang="zh-TW">
                <a:latin typeface="Arial" panose="020B0604020202020204" pitchFamily="34" charset="0"/>
              </a:rPr>
              <a:pPr/>
              <a:t>41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18435" name="標題 1">
            <a:extLst>
              <a:ext uri="{FF2B5EF4-FFF2-40B4-BE49-F238E27FC236}">
                <a16:creationId xmlns:a16="http://schemas.microsoft.com/office/drawing/2014/main" id="{6C7B717D-02C9-1E95-3F4D-40FBFB7CDE16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Max product</a:t>
            </a:r>
          </a:p>
        </p:txBody>
      </p:sp>
      <p:sp>
        <p:nvSpPr>
          <p:cNvPr id="18436" name="內容版面配置區 2">
            <a:extLst>
              <a:ext uri="{FF2B5EF4-FFF2-40B4-BE49-F238E27FC236}">
                <a16:creationId xmlns:a16="http://schemas.microsoft.com/office/drawing/2014/main" id="{A85182D9-34E7-7C51-32E7-B5243110E018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787BB8F4-1043-BECC-671E-CB97B14AA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166938"/>
            <a:ext cx="426085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5">
            <a:extLst>
              <a:ext uri="{FF2B5EF4-FFF2-40B4-BE49-F238E27FC236}">
                <a16:creationId xmlns:a16="http://schemas.microsoft.com/office/drawing/2014/main" id="{10F97968-B044-DED9-6C15-E2C656B3E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2247900"/>
            <a:ext cx="41656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80DB461-8492-36E1-34EF-DFF7355455B0}"/>
              </a:ext>
            </a:extLst>
          </p:cNvPr>
          <p:cNvSpPr/>
          <p:nvPr/>
        </p:nvSpPr>
        <p:spPr>
          <a:xfrm>
            <a:off x="2484438" y="2636838"/>
            <a:ext cx="1871662" cy="287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B76706-3E6A-1A70-CA2B-5F5ED0F9B4F5}"/>
              </a:ext>
            </a:extLst>
          </p:cNvPr>
          <p:cNvSpPr/>
          <p:nvPr/>
        </p:nvSpPr>
        <p:spPr>
          <a:xfrm>
            <a:off x="8259763" y="2636838"/>
            <a:ext cx="503237" cy="1008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graphicFrame>
        <p:nvGraphicFramePr>
          <p:cNvPr id="18441" name="Object 3">
            <a:extLst>
              <a:ext uri="{FF2B5EF4-FFF2-40B4-BE49-F238E27FC236}">
                <a16:creationId xmlns:a16="http://schemas.microsoft.com/office/drawing/2014/main" id="{6AEBCD44-579B-C448-983D-46A2D451A0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5856288"/>
          <a:ext cx="13604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252" imgH="228501" progId="Equation.DSMT4">
                  <p:embed/>
                </p:oleObj>
              </mc:Choice>
              <mc:Fallback>
                <p:oleObj name="Equation" r:id="rId4" imgW="571252" imgH="228501" progId="Equation.DSMT4">
                  <p:embed/>
                  <p:pic>
                    <p:nvPicPr>
                      <p:cNvPr id="18441" name="Object 3">
                        <a:extLst>
                          <a:ext uri="{FF2B5EF4-FFF2-40B4-BE49-F238E27FC236}">
                            <a16:creationId xmlns:a16="http://schemas.microsoft.com/office/drawing/2014/main" id="{6AEBCD44-579B-C448-983D-46A2D451A0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856288"/>
                        <a:ext cx="13604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42" name="Picture 4">
            <a:extLst>
              <a:ext uri="{FF2B5EF4-FFF2-40B4-BE49-F238E27FC236}">
                <a16:creationId xmlns:a16="http://schemas.microsoft.com/office/drawing/2014/main" id="{4C588C3A-EBAD-394F-0643-5494141B6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5064125"/>
            <a:ext cx="457200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向右箭號 12">
            <a:extLst>
              <a:ext uri="{FF2B5EF4-FFF2-40B4-BE49-F238E27FC236}">
                <a16:creationId xmlns:a16="http://schemas.microsoft.com/office/drawing/2014/main" id="{6DB72134-541E-B6AD-EDD6-60111DB61727}"/>
              </a:ext>
            </a:extLst>
          </p:cNvPr>
          <p:cNvSpPr/>
          <p:nvPr/>
        </p:nvSpPr>
        <p:spPr>
          <a:xfrm>
            <a:off x="5508625" y="6043613"/>
            <a:ext cx="503238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18444" name="Picture 13">
            <a:extLst>
              <a:ext uri="{FF2B5EF4-FFF2-40B4-BE49-F238E27FC236}">
                <a16:creationId xmlns:a16="http://schemas.microsoft.com/office/drawing/2014/main" id="{A5649506-B662-FB7B-1F00-152061C56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149725"/>
            <a:ext cx="5534025" cy="66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編號版面配置區 3">
            <a:extLst>
              <a:ext uri="{FF2B5EF4-FFF2-40B4-BE49-F238E27FC236}">
                <a16:creationId xmlns:a16="http://schemas.microsoft.com/office/drawing/2014/main" id="{EC525D55-7657-D5BF-FD9F-9314AAE8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4B99575-F6D3-49F6-932D-8810D64F3C8D}" type="slidenum">
              <a:rPr kumimoji="1" lang="en-US" altLang="zh-TW">
                <a:latin typeface="Arial" panose="020B0604020202020204" pitchFamily="34" charset="0"/>
              </a:rPr>
              <a:pPr/>
              <a:t>42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19459" name="標題 1">
            <a:extLst>
              <a:ext uri="{FF2B5EF4-FFF2-40B4-BE49-F238E27FC236}">
                <a16:creationId xmlns:a16="http://schemas.microsoft.com/office/drawing/2014/main" id="{70C317D3-F8A6-47A8-9BB9-1E99ADF27C45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Max product</a:t>
            </a:r>
          </a:p>
        </p:txBody>
      </p:sp>
      <p:sp>
        <p:nvSpPr>
          <p:cNvPr id="19460" name="內容版面配置區 2">
            <a:extLst>
              <a:ext uri="{FF2B5EF4-FFF2-40B4-BE49-F238E27FC236}">
                <a16:creationId xmlns:a16="http://schemas.microsoft.com/office/drawing/2014/main" id="{142F4C62-F710-8C50-D7A8-D9B82F40F6AF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61" name="Picture 4">
            <a:extLst>
              <a:ext uri="{FF2B5EF4-FFF2-40B4-BE49-F238E27FC236}">
                <a16:creationId xmlns:a16="http://schemas.microsoft.com/office/drawing/2014/main" id="{033CB969-2AAC-1FCD-2033-E3E53C97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528888"/>
            <a:ext cx="426085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5">
            <a:extLst>
              <a:ext uri="{FF2B5EF4-FFF2-40B4-BE49-F238E27FC236}">
                <a16:creationId xmlns:a16="http://schemas.microsoft.com/office/drawing/2014/main" id="{020B53A7-DACB-12EE-2FF1-5CA782A2D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2609850"/>
            <a:ext cx="41656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3">
            <a:extLst>
              <a:ext uri="{FF2B5EF4-FFF2-40B4-BE49-F238E27FC236}">
                <a16:creationId xmlns:a16="http://schemas.microsoft.com/office/drawing/2014/main" id="{11AB6B18-1067-2359-68B1-6323622EC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4402138"/>
            <a:ext cx="4581525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464" name="Object 2">
            <a:extLst>
              <a:ext uri="{FF2B5EF4-FFF2-40B4-BE49-F238E27FC236}">
                <a16:creationId xmlns:a16="http://schemas.microsoft.com/office/drawing/2014/main" id="{FEAC351A-6F06-859C-E5FA-25773F8FF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4800" y="5000625"/>
          <a:ext cx="66516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158" imgH="177646" progId="Equation.DSMT4">
                  <p:embed/>
                </p:oleObj>
              </mc:Choice>
              <mc:Fallback>
                <p:oleObj name="Equation" r:id="rId5" imgW="279158" imgH="177646" progId="Equation.DSMT4">
                  <p:embed/>
                  <p:pic>
                    <p:nvPicPr>
                      <p:cNvPr id="19464" name="Object 2">
                        <a:extLst>
                          <a:ext uri="{FF2B5EF4-FFF2-40B4-BE49-F238E27FC236}">
                            <a16:creationId xmlns:a16="http://schemas.microsoft.com/office/drawing/2014/main" id="{FEAC351A-6F06-859C-E5FA-25773F8FF8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5000625"/>
                        <a:ext cx="66516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編號版面配置區 3">
            <a:extLst>
              <a:ext uri="{FF2B5EF4-FFF2-40B4-BE49-F238E27FC236}">
                <a16:creationId xmlns:a16="http://schemas.microsoft.com/office/drawing/2014/main" id="{E8656D5F-02BE-B76B-1B8D-345E83779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C3A6EB7-D0FD-4578-9E19-C49E15725CA1}" type="slidenum">
              <a:rPr kumimoji="1" lang="en-US" altLang="zh-TW">
                <a:latin typeface="Arial" panose="020B0604020202020204" pitchFamily="34" charset="0"/>
              </a:rPr>
              <a:pPr/>
              <a:t>43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20483" name="標題 1">
            <a:extLst>
              <a:ext uri="{FF2B5EF4-FFF2-40B4-BE49-F238E27FC236}">
                <a16:creationId xmlns:a16="http://schemas.microsoft.com/office/drawing/2014/main" id="{C9545829-CEE3-B4AE-CFE8-C6AE7A43136E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fuzzy matrices</a:t>
            </a:r>
          </a:p>
        </p:txBody>
      </p:sp>
      <p:sp>
        <p:nvSpPr>
          <p:cNvPr id="20484" name="內容版面配置區 2">
            <a:extLst>
              <a:ext uri="{FF2B5EF4-FFF2-40B4-BE49-F238E27FC236}">
                <a16:creationId xmlns:a16="http://schemas.microsoft.com/office/drawing/2014/main" id="{603CA9CB-C30B-0613-8A63-D22E617DABF1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Scalar product:</a:t>
            </a:r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485" name="Object 2">
            <a:extLst>
              <a:ext uri="{FF2B5EF4-FFF2-40B4-BE49-F238E27FC236}">
                <a16:creationId xmlns:a16="http://schemas.microsoft.com/office/drawing/2014/main" id="{997EB4F9-451A-7E59-A927-0CD47BBF06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1700213"/>
          <a:ext cx="29051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671" imgH="177723" progId="Equation.DSMT4">
                  <p:embed/>
                </p:oleObj>
              </mc:Choice>
              <mc:Fallback>
                <p:oleObj name="Equation" r:id="rId2" imgW="1218671" imgH="177723" progId="Equation.DSMT4">
                  <p:embed/>
                  <p:pic>
                    <p:nvPicPr>
                      <p:cNvPr id="20485" name="Object 2">
                        <a:extLst>
                          <a:ext uri="{FF2B5EF4-FFF2-40B4-BE49-F238E27FC236}">
                            <a16:creationId xmlns:a16="http://schemas.microsoft.com/office/drawing/2014/main" id="{997EB4F9-451A-7E59-A927-0CD47BBF06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700213"/>
                        <a:ext cx="290512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6" name="Picture 4">
            <a:extLst>
              <a:ext uri="{FF2B5EF4-FFF2-40B4-BE49-F238E27FC236}">
                <a16:creationId xmlns:a16="http://schemas.microsoft.com/office/drawing/2014/main" id="{D43DDA74-3DB8-1603-F2B5-46D1F471A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781300"/>
            <a:ext cx="426085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7" name="Object 3">
            <a:extLst>
              <a:ext uri="{FF2B5EF4-FFF2-40B4-BE49-F238E27FC236}">
                <a16:creationId xmlns:a16="http://schemas.microsoft.com/office/drawing/2014/main" id="{CA0A77EF-E87E-0B60-E1BC-43C6CE8F33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7263" y="4564063"/>
          <a:ext cx="4845050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60600" imgH="889000" progId="Equation.DSMT4">
                  <p:embed/>
                </p:oleObj>
              </mc:Choice>
              <mc:Fallback>
                <p:oleObj name="Equation" r:id="rId5" imgW="2260600" imgH="889000" progId="Equation.DSMT4">
                  <p:embed/>
                  <p:pic>
                    <p:nvPicPr>
                      <p:cNvPr id="20487" name="Object 3">
                        <a:extLst>
                          <a:ext uri="{FF2B5EF4-FFF2-40B4-BE49-F238E27FC236}">
                            <a16:creationId xmlns:a16="http://schemas.microsoft.com/office/drawing/2014/main" id="{CA0A77EF-E87E-0B60-E1BC-43C6CE8F33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4564063"/>
                        <a:ext cx="4845050" cy="190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A6319B26-7B47-DA04-3BED-54EB129EB0B9}"/>
              </a:ext>
            </a:extLst>
          </p:cNvPr>
          <p:cNvCxnSpPr/>
          <p:nvPr/>
        </p:nvCxnSpPr>
        <p:spPr>
          <a:xfrm>
            <a:off x="4140200" y="5049838"/>
            <a:ext cx="29162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4FD5273-BFB6-A345-41E8-79ABB3B730A4}"/>
              </a:ext>
            </a:extLst>
          </p:cNvPr>
          <p:cNvCxnSpPr/>
          <p:nvPr/>
        </p:nvCxnSpPr>
        <p:spPr>
          <a:xfrm rot="5400000">
            <a:off x="3829844" y="5625307"/>
            <a:ext cx="179863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編號版面配置區 3">
            <a:extLst>
              <a:ext uri="{FF2B5EF4-FFF2-40B4-BE49-F238E27FC236}">
                <a16:creationId xmlns:a16="http://schemas.microsoft.com/office/drawing/2014/main" id="{795F0D15-690E-A6E9-A830-6CBDEF41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DCC8F77-B644-4888-BA66-996BF60D7279}" type="slidenum">
              <a:rPr kumimoji="1" lang="en-US" altLang="zh-TW">
                <a:latin typeface="Arial" panose="020B0604020202020204" pitchFamily="34" charset="0"/>
              </a:rPr>
              <a:pPr/>
              <a:t>44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21507" name="標題 1">
            <a:extLst>
              <a:ext uri="{FF2B5EF4-FFF2-40B4-BE49-F238E27FC236}">
                <a16:creationId xmlns:a16="http://schemas.microsoft.com/office/drawing/2014/main" id="{7A831395-73C0-1FCF-D116-1F3BC046296E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fuzzy relations</a:t>
            </a:r>
          </a:p>
        </p:txBody>
      </p:sp>
      <p:sp>
        <p:nvSpPr>
          <p:cNvPr id="21508" name="內容版面配置區 2">
            <a:extLst>
              <a:ext uri="{FF2B5EF4-FFF2-40B4-BE49-F238E27FC236}">
                <a16:creationId xmlns:a16="http://schemas.microsoft.com/office/drawing/2014/main" id="{C81F95B1-E0ED-86D5-4255-FDF40353EA28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Union relation</a:t>
            </a:r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 relations</a:t>
            </a:r>
          </a:p>
        </p:txBody>
      </p:sp>
      <p:graphicFrame>
        <p:nvGraphicFramePr>
          <p:cNvPr id="21509" name="Object 2">
            <a:extLst>
              <a:ext uri="{FF2B5EF4-FFF2-40B4-BE49-F238E27FC236}">
                <a16:creationId xmlns:a16="http://schemas.microsoft.com/office/drawing/2014/main" id="{CD5E74E3-D55F-9861-9FB6-85EF0FF68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457450"/>
          <a:ext cx="4649788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22500" imgH="673100" progId="Equation.DSMT4">
                  <p:embed/>
                </p:oleObj>
              </mc:Choice>
              <mc:Fallback>
                <p:oleObj name="Equation" r:id="rId2" imgW="2222500" imgH="673100" progId="Equation.DSMT4">
                  <p:embed/>
                  <p:pic>
                    <p:nvPicPr>
                      <p:cNvPr id="21509" name="Object 2">
                        <a:extLst>
                          <a:ext uri="{FF2B5EF4-FFF2-40B4-BE49-F238E27FC236}">
                            <a16:creationId xmlns:a16="http://schemas.microsoft.com/office/drawing/2014/main" id="{CD5E74E3-D55F-9861-9FB6-85EF0FF688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457450"/>
                        <a:ext cx="4649788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8">
            <a:extLst>
              <a:ext uri="{FF2B5EF4-FFF2-40B4-BE49-F238E27FC236}">
                <a16:creationId xmlns:a16="http://schemas.microsoft.com/office/drawing/2014/main" id="{73011FF0-AD54-44B8-9A0D-80936A8145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5040313"/>
          <a:ext cx="3825875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508000" progId="Equation.DSMT4">
                  <p:embed/>
                </p:oleObj>
              </mc:Choice>
              <mc:Fallback>
                <p:oleObj name="Equation" r:id="rId4" imgW="1828800" imgH="508000" progId="Equation.DSMT4">
                  <p:embed/>
                  <p:pic>
                    <p:nvPicPr>
                      <p:cNvPr id="21510" name="Object 8">
                        <a:extLst>
                          <a:ext uri="{FF2B5EF4-FFF2-40B4-BE49-F238E27FC236}">
                            <a16:creationId xmlns:a16="http://schemas.microsoft.com/office/drawing/2014/main" id="{73011FF0-AD54-44B8-9A0D-80936A814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040313"/>
                        <a:ext cx="3825875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投影片編號版面配置區 3">
            <a:extLst>
              <a:ext uri="{FF2B5EF4-FFF2-40B4-BE49-F238E27FC236}">
                <a16:creationId xmlns:a16="http://schemas.microsoft.com/office/drawing/2014/main" id="{C4C0E482-868B-76E6-1844-8E5AC352A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698B0AE-80E1-49D6-8835-294A10EE8B43}" type="slidenum">
              <a:rPr kumimoji="1" lang="en-US" altLang="zh-TW">
                <a:latin typeface="Arial" panose="020B0604020202020204" pitchFamily="34" charset="0"/>
              </a:rPr>
              <a:pPr/>
              <a:t>45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22531" name="標題 1">
            <a:extLst>
              <a:ext uri="{FF2B5EF4-FFF2-40B4-BE49-F238E27FC236}">
                <a16:creationId xmlns:a16="http://schemas.microsoft.com/office/drawing/2014/main" id="{5E66017C-13C8-9BA8-7FA2-8A6229E43E89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Union relation</a:t>
            </a:r>
          </a:p>
        </p:txBody>
      </p:sp>
      <p:sp>
        <p:nvSpPr>
          <p:cNvPr id="22532" name="內容版面配置區 2">
            <a:extLst>
              <a:ext uri="{FF2B5EF4-FFF2-40B4-BE49-F238E27FC236}">
                <a16:creationId xmlns:a16="http://schemas.microsoft.com/office/drawing/2014/main" id="{32978C71-E38E-7878-3BBC-44995BDF2B1E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pic>
        <p:nvPicPr>
          <p:cNvPr id="22533" name="Picture 3">
            <a:extLst>
              <a:ext uri="{FF2B5EF4-FFF2-40B4-BE49-F238E27FC236}">
                <a16:creationId xmlns:a16="http://schemas.microsoft.com/office/drawing/2014/main" id="{E6E445FE-8D7F-EC85-B96B-39F3F96B1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492375"/>
            <a:ext cx="8334375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4">
            <a:extLst>
              <a:ext uri="{FF2B5EF4-FFF2-40B4-BE49-F238E27FC236}">
                <a16:creationId xmlns:a16="http://schemas.microsoft.com/office/drawing/2014/main" id="{BE741CC9-77B1-9620-1260-1F3996F8B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488" y="4400550"/>
            <a:ext cx="4092575" cy="162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編號版面配置區 3">
            <a:extLst>
              <a:ext uri="{FF2B5EF4-FFF2-40B4-BE49-F238E27FC236}">
                <a16:creationId xmlns:a16="http://schemas.microsoft.com/office/drawing/2014/main" id="{7BA4C269-5C2F-199C-D27C-99E82C86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B8E3ECCB-C59C-4E3C-92FD-295608C17FD3}" type="slidenum">
              <a:rPr kumimoji="1" lang="en-US" altLang="zh-TW">
                <a:latin typeface="Arial" panose="020B0604020202020204" pitchFamily="34" charset="0"/>
              </a:rPr>
              <a:pPr/>
              <a:t>46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23555" name="標題 1">
            <a:extLst>
              <a:ext uri="{FF2B5EF4-FFF2-40B4-BE49-F238E27FC236}">
                <a16:creationId xmlns:a16="http://schemas.microsoft.com/office/drawing/2014/main" id="{0966142F-51DD-4253-0667-8E41858AC556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fuzzy relations</a:t>
            </a:r>
          </a:p>
        </p:txBody>
      </p:sp>
      <p:sp>
        <p:nvSpPr>
          <p:cNvPr id="23556" name="內容版面配置區 2">
            <a:extLst>
              <a:ext uri="{FF2B5EF4-FFF2-40B4-BE49-F238E27FC236}">
                <a16:creationId xmlns:a16="http://schemas.microsoft.com/office/drawing/2014/main" id="{948D3082-6D46-5863-BC29-0C67DFE5866E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relation</a:t>
            </a:r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 relations</a:t>
            </a:r>
          </a:p>
        </p:txBody>
      </p:sp>
      <p:graphicFrame>
        <p:nvGraphicFramePr>
          <p:cNvPr id="23557" name="Object 2">
            <a:extLst>
              <a:ext uri="{FF2B5EF4-FFF2-40B4-BE49-F238E27FC236}">
                <a16:creationId xmlns:a16="http://schemas.microsoft.com/office/drawing/2014/main" id="{78DFDE47-2E30-0761-D078-08C6DBBA44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7413" y="2530475"/>
          <a:ext cx="4597400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100" imgH="673100" progId="Equation.DSMT4">
                  <p:embed/>
                </p:oleObj>
              </mc:Choice>
              <mc:Fallback>
                <p:oleObj name="Equation" r:id="rId2" imgW="2197100" imgH="673100" progId="Equation.DSMT4">
                  <p:embed/>
                  <p:pic>
                    <p:nvPicPr>
                      <p:cNvPr id="23557" name="Object 2">
                        <a:extLst>
                          <a:ext uri="{FF2B5EF4-FFF2-40B4-BE49-F238E27FC236}">
                            <a16:creationId xmlns:a16="http://schemas.microsoft.com/office/drawing/2014/main" id="{78DFDE47-2E30-0761-D078-08C6DBBA44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2530475"/>
                        <a:ext cx="4597400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8">
            <a:extLst>
              <a:ext uri="{FF2B5EF4-FFF2-40B4-BE49-F238E27FC236}">
                <a16:creationId xmlns:a16="http://schemas.microsoft.com/office/drawing/2014/main" id="{D7A16F25-9CA0-051C-F3A7-91FA775E43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5040313"/>
          <a:ext cx="3825875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508000" progId="Equation.DSMT4">
                  <p:embed/>
                </p:oleObj>
              </mc:Choice>
              <mc:Fallback>
                <p:oleObj name="Equation" r:id="rId4" imgW="1828800" imgH="508000" progId="Equation.DSMT4">
                  <p:embed/>
                  <p:pic>
                    <p:nvPicPr>
                      <p:cNvPr id="23558" name="Object 8">
                        <a:extLst>
                          <a:ext uri="{FF2B5EF4-FFF2-40B4-BE49-F238E27FC236}">
                            <a16:creationId xmlns:a16="http://schemas.microsoft.com/office/drawing/2014/main" id="{D7A16F25-9CA0-051C-F3A7-91FA775E43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040313"/>
                        <a:ext cx="3825875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編號版面配置區 3">
            <a:extLst>
              <a:ext uri="{FF2B5EF4-FFF2-40B4-BE49-F238E27FC236}">
                <a16:creationId xmlns:a16="http://schemas.microsoft.com/office/drawing/2014/main" id="{700F9B0B-A690-5961-76FE-A9E9EC7B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E87EE72-0F7B-41BC-8CA5-59D1EA033118}" type="slidenum">
              <a:rPr kumimoji="1" lang="en-US" altLang="zh-TW">
                <a:latin typeface="Arial" panose="020B0604020202020204" pitchFamily="34" charset="0"/>
              </a:rPr>
              <a:pPr/>
              <a:t>47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24579" name="標題 1">
            <a:extLst>
              <a:ext uri="{FF2B5EF4-FFF2-40B4-BE49-F238E27FC236}">
                <a16:creationId xmlns:a16="http://schemas.microsoft.com/office/drawing/2014/main" id="{9B57BBEF-FB91-C5EC-D131-C607CE77F1C8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relation</a:t>
            </a:r>
          </a:p>
        </p:txBody>
      </p:sp>
      <p:sp>
        <p:nvSpPr>
          <p:cNvPr id="24580" name="內容版面配置區 2">
            <a:extLst>
              <a:ext uri="{FF2B5EF4-FFF2-40B4-BE49-F238E27FC236}">
                <a16:creationId xmlns:a16="http://schemas.microsoft.com/office/drawing/2014/main" id="{CD3FC062-1BEE-5030-7D4B-14D440BA2B6B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pic>
        <p:nvPicPr>
          <p:cNvPr id="24581" name="Picture 3">
            <a:extLst>
              <a:ext uri="{FF2B5EF4-FFF2-40B4-BE49-F238E27FC236}">
                <a16:creationId xmlns:a16="http://schemas.microsoft.com/office/drawing/2014/main" id="{E299F247-1AA5-EA57-15C6-77B6E8BDC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565400"/>
            <a:ext cx="8334375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3">
            <a:extLst>
              <a:ext uri="{FF2B5EF4-FFF2-40B4-BE49-F238E27FC236}">
                <a16:creationId xmlns:a16="http://schemas.microsoft.com/office/drawing/2014/main" id="{28917AFD-8DB5-3BEC-E40B-5381FECC7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4581525"/>
            <a:ext cx="4175125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投影片編號版面配置區 3">
            <a:extLst>
              <a:ext uri="{FF2B5EF4-FFF2-40B4-BE49-F238E27FC236}">
                <a16:creationId xmlns:a16="http://schemas.microsoft.com/office/drawing/2014/main" id="{117F763E-D698-82E7-FD07-DB813D3E5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837FE6C-0051-414C-A916-0B0F64C96791}" type="slidenum">
              <a:rPr kumimoji="1" lang="en-US" altLang="zh-TW">
                <a:latin typeface="Arial" panose="020B0604020202020204" pitchFamily="34" charset="0"/>
              </a:rPr>
              <a:pPr/>
              <a:t>48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25603" name="標題 1">
            <a:extLst>
              <a:ext uri="{FF2B5EF4-FFF2-40B4-BE49-F238E27FC236}">
                <a16:creationId xmlns:a16="http://schemas.microsoft.com/office/drawing/2014/main" id="{F04A93F5-92A6-082B-855E-5C4A67E6B5A9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fuzzy relations</a:t>
            </a:r>
          </a:p>
        </p:txBody>
      </p:sp>
      <p:sp>
        <p:nvSpPr>
          <p:cNvPr id="25604" name="內容版面配置區 2">
            <a:extLst>
              <a:ext uri="{FF2B5EF4-FFF2-40B4-BE49-F238E27FC236}">
                <a16:creationId xmlns:a16="http://schemas.microsoft.com/office/drawing/2014/main" id="{2D5BE527-DFB3-CB91-981C-0A75023F11E5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Complement relation:</a:t>
            </a:r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TW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just"/>
            <a:endParaRPr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605" name="Object 2">
            <a:extLst>
              <a:ext uri="{FF2B5EF4-FFF2-40B4-BE49-F238E27FC236}">
                <a16:creationId xmlns:a16="http://schemas.microsoft.com/office/drawing/2014/main" id="{474BC504-77EB-238B-4734-F0B05AF88C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2420938"/>
          <a:ext cx="28971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300" imgH="457200" progId="Equation.DSMT4">
                  <p:embed/>
                </p:oleObj>
              </mc:Choice>
              <mc:Fallback>
                <p:oleObj name="Equation" r:id="rId2" imgW="1384300" imgH="457200" progId="Equation.DSMT4">
                  <p:embed/>
                  <p:pic>
                    <p:nvPicPr>
                      <p:cNvPr id="25605" name="Object 2">
                        <a:extLst>
                          <a:ext uri="{FF2B5EF4-FFF2-40B4-BE49-F238E27FC236}">
                            <a16:creationId xmlns:a16="http://schemas.microsoft.com/office/drawing/2014/main" id="{474BC504-77EB-238B-4734-F0B05AF88C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420938"/>
                        <a:ext cx="28971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6" name="Picture 3">
            <a:extLst>
              <a:ext uri="{FF2B5EF4-FFF2-40B4-BE49-F238E27FC236}">
                <a16:creationId xmlns:a16="http://schemas.microsoft.com/office/drawing/2014/main" id="{F53BEF06-9CD1-3E59-EB36-48C3DF150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080"/>
          <a:stretch>
            <a:fillRect/>
          </a:stretch>
        </p:blipFill>
        <p:spPr bwMode="auto">
          <a:xfrm>
            <a:off x="684213" y="4510088"/>
            <a:ext cx="3743325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3">
            <a:extLst>
              <a:ext uri="{FF2B5EF4-FFF2-40B4-BE49-F238E27FC236}">
                <a16:creationId xmlns:a16="http://schemas.microsoft.com/office/drawing/2014/main" id="{7D33D52D-36B2-6925-A3DD-6491F71A1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4554538"/>
            <a:ext cx="3484563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編號版面配置區 6">
            <a:extLst>
              <a:ext uri="{FF2B5EF4-FFF2-40B4-BE49-F238E27FC236}">
                <a16:creationId xmlns:a16="http://schemas.microsoft.com/office/drawing/2014/main" id="{0595F89E-A8A7-0D05-5E36-FC4F618F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B18F247-77C1-4241-A4BA-03E90EA72A06}" type="slidenum">
              <a:rPr kumimoji="1" lang="en-US" altLang="zh-TW">
                <a:latin typeface="Arial" panose="020B0604020202020204" pitchFamily="34" charset="0"/>
              </a:rPr>
              <a:pPr/>
              <a:t>49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C1931FF-A259-0AFC-50B3-46BFD87F5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fuzzy relations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B1ABDD6-2EDD-EBFE-ADEA-ED6B7922894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18488" cy="4525963"/>
          </a:xfrm>
        </p:spPr>
        <p:txBody>
          <a:bodyPr/>
          <a:lstStyle/>
          <a:p>
            <a:pPr algn="just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Max-min composition</a:t>
            </a:r>
          </a:p>
          <a:p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graphicFrame>
        <p:nvGraphicFramePr>
          <p:cNvPr id="26629" name="Object 4">
            <a:extLst>
              <a:ext uri="{FF2B5EF4-FFF2-40B4-BE49-F238E27FC236}">
                <a16:creationId xmlns:a16="http://schemas.microsoft.com/office/drawing/2014/main" id="{60913513-B52B-3BDF-15C5-E34794E7306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373188" y="2852738"/>
          <a:ext cx="5534025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600" imgH="584200" progId="Equation.DSMT4">
                  <p:embed/>
                </p:oleObj>
              </mc:Choice>
              <mc:Fallback>
                <p:oleObj name="Equation" r:id="rId2" imgW="2641600" imgH="584200" progId="Equation.DSMT4">
                  <p:embed/>
                  <p:pic>
                    <p:nvPicPr>
                      <p:cNvPr id="26629" name="Object 4">
                        <a:extLst>
                          <a:ext uri="{FF2B5EF4-FFF2-40B4-BE49-F238E27FC236}">
                            <a16:creationId xmlns:a16="http://schemas.microsoft.com/office/drawing/2014/main" id="{60913513-B52B-3BDF-15C5-E34794E7306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2852738"/>
                        <a:ext cx="5534025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30" name="Picture 6">
            <a:extLst>
              <a:ext uri="{FF2B5EF4-FFF2-40B4-BE49-F238E27FC236}">
                <a16:creationId xmlns:a16="http://schemas.microsoft.com/office/drawing/2014/main" id="{EF763BC6-58D4-2A7B-7276-831B222C4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944" y="4509294"/>
            <a:ext cx="6985000" cy="149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6631" name="Object 8">
            <a:extLst>
              <a:ext uri="{FF2B5EF4-FFF2-40B4-BE49-F238E27FC236}">
                <a16:creationId xmlns:a16="http://schemas.microsoft.com/office/drawing/2014/main" id="{AE9D197A-D462-2D01-9CDC-185BF623F9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2075" y="2290763"/>
          <a:ext cx="40687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43100" imgH="203200" progId="Equation.DSMT4">
                  <p:embed/>
                </p:oleObj>
              </mc:Choice>
              <mc:Fallback>
                <p:oleObj name="Equation" r:id="rId5" imgW="1943100" imgH="203200" progId="Equation.DSMT4">
                  <p:embed/>
                  <p:pic>
                    <p:nvPicPr>
                      <p:cNvPr id="26631" name="Object 8">
                        <a:extLst>
                          <a:ext uri="{FF2B5EF4-FFF2-40B4-BE49-F238E27FC236}">
                            <a16:creationId xmlns:a16="http://schemas.microsoft.com/office/drawing/2014/main" id="{AE9D197A-D462-2D01-9CDC-185BF623F9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2290763"/>
                        <a:ext cx="406876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投影片編號版面配置區 5">
            <a:extLst>
              <a:ext uri="{FF2B5EF4-FFF2-40B4-BE49-F238E27FC236}">
                <a16:creationId xmlns:a16="http://schemas.microsoft.com/office/drawing/2014/main" id="{253EE234-55D5-1D07-6251-DE2857EB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FEE19DA-C754-41CD-ACF4-DE2AA1902282}" type="slidenum">
              <a:rPr kumimoji="1" lang="en-US" altLang="zh-TW">
                <a:latin typeface="Arial" panose="020B0604020202020204" pitchFamily="34" charset="0"/>
              </a:rPr>
              <a:pPr/>
              <a:t>50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D4523D2-6F92-8C55-245C-8A0999D4C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fuzzy relations</a:t>
            </a:r>
            <a:endParaRPr lang="en-US" altLang="zh-TW">
              <a:cs typeface="Times New Roman" panose="02020603050405020304" pitchFamily="18" charset="0"/>
            </a:endParaRPr>
          </a:p>
        </p:txBody>
      </p:sp>
      <p:pic>
        <p:nvPicPr>
          <p:cNvPr id="27652" name="Picture 4">
            <a:extLst>
              <a:ext uri="{FF2B5EF4-FFF2-40B4-BE49-F238E27FC236}">
                <a16:creationId xmlns:a16="http://schemas.microsoft.com/office/drawing/2014/main" id="{EEB1D74E-310C-6EA0-429B-0ADC665CA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097088"/>
            <a:ext cx="719137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編號版面配置區 6">
            <a:extLst>
              <a:ext uri="{FF2B5EF4-FFF2-40B4-BE49-F238E27FC236}">
                <a16:creationId xmlns:a16="http://schemas.microsoft.com/office/drawing/2014/main" id="{2283AEC3-AC24-CF17-177D-2DF763A6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88032FC-2D5E-4D38-8565-88238C695A79}" type="slidenum">
              <a:rPr kumimoji="1" lang="en-US" altLang="zh-TW">
                <a:latin typeface="Arial" panose="020B0604020202020204" pitchFamily="34" charset="0"/>
              </a:rPr>
              <a:pPr/>
              <a:t>51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43AA85A-69F8-0CC3-6E48-4AD9232CA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fuzzy relations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5E2000D5-C337-145C-5970-FA04803C1A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18488" cy="4525963"/>
          </a:xfrm>
        </p:spPr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graphicFrame>
        <p:nvGraphicFramePr>
          <p:cNvPr id="28677" name="Object 4">
            <a:extLst>
              <a:ext uri="{FF2B5EF4-FFF2-40B4-BE49-F238E27FC236}">
                <a16:creationId xmlns:a16="http://schemas.microsoft.com/office/drawing/2014/main" id="{789D9821-733C-0CC0-0917-C2DFACAC823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1925" y="4686300"/>
          <a:ext cx="88074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06900" imgH="431800" progId="Equation.DSMT4">
                  <p:embed/>
                </p:oleObj>
              </mc:Choice>
              <mc:Fallback>
                <p:oleObj name="Equation" r:id="rId2" imgW="4406900" imgH="431800" progId="Equation.DSMT4">
                  <p:embed/>
                  <p:pic>
                    <p:nvPicPr>
                      <p:cNvPr id="28677" name="Object 4">
                        <a:extLst>
                          <a:ext uri="{FF2B5EF4-FFF2-40B4-BE49-F238E27FC236}">
                            <a16:creationId xmlns:a16="http://schemas.microsoft.com/office/drawing/2014/main" id="{789D9821-733C-0CC0-0917-C2DFACAC823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" y="4686300"/>
                        <a:ext cx="880745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678" name="Picture 6">
            <a:extLst>
              <a:ext uri="{FF2B5EF4-FFF2-40B4-BE49-F238E27FC236}">
                <a16:creationId xmlns:a16="http://schemas.microsoft.com/office/drawing/2014/main" id="{1E7794FA-3AFD-E518-8F2D-95C95862B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492375"/>
            <a:ext cx="6985000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E89472C-A16A-F25C-C028-46FE79721E9F}"/>
              </a:ext>
            </a:extLst>
          </p:cNvPr>
          <p:cNvSpPr/>
          <p:nvPr/>
        </p:nvSpPr>
        <p:spPr>
          <a:xfrm>
            <a:off x="2081213" y="2809875"/>
            <a:ext cx="2484437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55F5BE-F539-CF62-3707-ED9A93E595FF}"/>
              </a:ext>
            </a:extLst>
          </p:cNvPr>
          <p:cNvSpPr/>
          <p:nvPr/>
        </p:nvSpPr>
        <p:spPr>
          <a:xfrm>
            <a:off x="6227763" y="2824163"/>
            <a:ext cx="431800" cy="1150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28681" name="Picture 9">
            <a:extLst>
              <a:ext uri="{FF2B5EF4-FFF2-40B4-BE49-F238E27FC236}">
                <a16:creationId xmlns:a16="http://schemas.microsoft.com/office/drawing/2014/main" id="{64E764B0-10D5-551F-6727-BA4035D77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" y="4868863"/>
            <a:ext cx="3429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編號版面配置區 6">
            <a:extLst>
              <a:ext uri="{FF2B5EF4-FFF2-40B4-BE49-F238E27FC236}">
                <a16:creationId xmlns:a16="http://schemas.microsoft.com/office/drawing/2014/main" id="{2F88FFBC-6405-B7B1-80CA-3E78523A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71A34B0-18AA-4365-9A1D-33C2B336B7CA}" type="slidenum">
              <a:rPr kumimoji="1" lang="en-US" altLang="zh-TW">
                <a:latin typeface="Arial" panose="020B0604020202020204" pitchFamily="34" charset="0"/>
              </a:rPr>
              <a:pPr/>
              <a:t>52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F5E3EA9-4765-CB08-3B4D-54ED75F8D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fuzzy relations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AC43578-92A3-58B8-5374-2D59511AB76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18488" cy="4525963"/>
          </a:xfrm>
        </p:spPr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graphicFrame>
        <p:nvGraphicFramePr>
          <p:cNvPr id="29701" name="Object 4">
            <a:extLst>
              <a:ext uri="{FF2B5EF4-FFF2-40B4-BE49-F238E27FC236}">
                <a16:creationId xmlns:a16="http://schemas.microsoft.com/office/drawing/2014/main" id="{C3F03729-7D64-E07D-146B-E7645811EDA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80975" y="4724400"/>
          <a:ext cx="880427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94200" imgH="431800" progId="Equation.DSMT4">
                  <p:embed/>
                </p:oleObj>
              </mc:Choice>
              <mc:Fallback>
                <p:oleObj name="Equation" r:id="rId2" imgW="4394200" imgH="431800" progId="Equation.DSMT4">
                  <p:embed/>
                  <p:pic>
                    <p:nvPicPr>
                      <p:cNvPr id="29701" name="Object 4">
                        <a:extLst>
                          <a:ext uri="{FF2B5EF4-FFF2-40B4-BE49-F238E27FC236}">
                            <a16:creationId xmlns:a16="http://schemas.microsoft.com/office/drawing/2014/main" id="{C3F03729-7D64-E07D-146B-E7645811EDA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" y="4724400"/>
                        <a:ext cx="880427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2" name="Picture 6">
            <a:extLst>
              <a:ext uri="{FF2B5EF4-FFF2-40B4-BE49-F238E27FC236}">
                <a16:creationId xmlns:a16="http://schemas.microsoft.com/office/drawing/2014/main" id="{1899EA3F-749D-4B08-94A8-81400BD55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492375"/>
            <a:ext cx="6985000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2104984-DEF6-91AA-0EE0-F02BEF8D3D2E}"/>
              </a:ext>
            </a:extLst>
          </p:cNvPr>
          <p:cNvSpPr/>
          <p:nvPr/>
        </p:nvSpPr>
        <p:spPr>
          <a:xfrm>
            <a:off x="2081213" y="2809875"/>
            <a:ext cx="2484437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CFFDF2-244F-2B9D-5DA8-87051711FAF3}"/>
              </a:ext>
            </a:extLst>
          </p:cNvPr>
          <p:cNvSpPr/>
          <p:nvPr/>
        </p:nvSpPr>
        <p:spPr>
          <a:xfrm>
            <a:off x="6892925" y="2824163"/>
            <a:ext cx="431800" cy="1150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29705" name="Picture 9">
            <a:extLst>
              <a:ext uri="{FF2B5EF4-FFF2-40B4-BE49-F238E27FC236}">
                <a16:creationId xmlns:a16="http://schemas.microsoft.com/office/drawing/2014/main" id="{C728D558-B502-4590-5AFD-C0D3358F8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941888"/>
            <a:ext cx="3429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編號版面配置區 5">
            <a:extLst>
              <a:ext uri="{FF2B5EF4-FFF2-40B4-BE49-F238E27FC236}">
                <a16:creationId xmlns:a16="http://schemas.microsoft.com/office/drawing/2014/main" id="{AE20F84C-CD24-5527-F204-FD322007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0EE6EB2-C63D-4336-8F87-386BF0558752}" type="slidenum">
              <a:rPr kumimoji="1" lang="en-US" altLang="zh-TW">
                <a:latin typeface="Arial" panose="020B0604020202020204" pitchFamily="34" charset="0"/>
              </a:rPr>
              <a:pPr/>
              <a:t>53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27C7DD27-2EAD-0CCC-0965-AD3E7EEC09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fuzzy relations</a:t>
            </a:r>
            <a:endParaRPr lang="en-US" altLang="zh-TW">
              <a:cs typeface="Times New Roman" panose="02020603050405020304" pitchFamily="18" charset="0"/>
            </a:endParaRP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C85AE24C-F19E-78AA-6834-DF67B63C7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290763"/>
            <a:ext cx="3673475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5">
            <a:extLst>
              <a:ext uri="{FF2B5EF4-FFF2-40B4-BE49-F238E27FC236}">
                <a16:creationId xmlns:a16="http://schemas.microsoft.com/office/drawing/2014/main" id="{F1AF9EF1-AE92-60C7-7F92-71E7BC97B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2420938"/>
            <a:ext cx="4608513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編號版面配置區 5">
            <a:extLst>
              <a:ext uri="{FF2B5EF4-FFF2-40B4-BE49-F238E27FC236}">
                <a16:creationId xmlns:a16="http://schemas.microsoft.com/office/drawing/2014/main" id="{0A6C1F16-B0BF-523C-D263-21DD27B3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9280337-40B9-4EFE-999C-24F9A5A04BD7}" type="slidenum">
              <a:rPr kumimoji="1" lang="en-US" altLang="zh-TW">
                <a:latin typeface="Arial" panose="020B0604020202020204" pitchFamily="34" charset="0"/>
              </a:rPr>
              <a:pPr/>
              <a:t>54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2555422-341F-DA04-AFBB-ADBA46821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-cut of fuzzy relation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070CFBD-BC11-3100-D8BC-C1BCF5482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cs typeface="Times New Roman" panose="02020603050405020304" pitchFamily="18" charset="0"/>
              </a:rPr>
              <a:t> </a:t>
            </a:r>
          </a:p>
          <a:p>
            <a:endParaRPr lang="en-US" altLang="zh-TW">
              <a:cs typeface="Times New Roman" panose="02020603050405020304" pitchFamily="18" charset="0"/>
            </a:endParaRPr>
          </a:p>
          <a:p>
            <a:endParaRPr lang="en-US" altLang="zh-TW">
              <a:cs typeface="Times New Roman" panose="02020603050405020304" pitchFamily="18" charset="0"/>
            </a:endParaRPr>
          </a:p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pic>
        <p:nvPicPr>
          <p:cNvPr id="31749" name="Picture 4">
            <a:extLst>
              <a:ext uri="{FF2B5EF4-FFF2-40B4-BE49-F238E27FC236}">
                <a16:creationId xmlns:a16="http://schemas.microsoft.com/office/drawing/2014/main" id="{8F3EFA8A-1DF0-B134-45F5-EC7BCEEBD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731963"/>
            <a:ext cx="81565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5">
            <a:extLst>
              <a:ext uri="{FF2B5EF4-FFF2-40B4-BE49-F238E27FC236}">
                <a16:creationId xmlns:a16="http://schemas.microsoft.com/office/drawing/2014/main" id="{E864E4C8-61D6-2F9F-E631-0A49534D8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7"/>
          <a:stretch>
            <a:fillRect/>
          </a:stretch>
        </p:blipFill>
        <p:spPr bwMode="auto">
          <a:xfrm>
            <a:off x="1116013" y="4149725"/>
            <a:ext cx="4105275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751" name="Group 8">
            <a:extLst>
              <a:ext uri="{FF2B5EF4-FFF2-40B4-BE49-F238E27FC236}">
                <a16:creationId xmlns:a16="http://schemas.microsoft.com/office/drawing/2014/main" id="{232A1E43-4BEE-5656-87B2-0F45EE43A2AE}"/>
              </a:ext>
            </a:extLst>
          </p:cNvPr>
          <p:cNvGrpSpPr>
            <a:grpSpLocks/>
          </p:cNvGrpSpPr>
          <p:nvPr/>
        </p:nvGrpSpPr>
        <p:grpSpPr bwMode="auto">
          <a:xfrm>
            <a:off x="5651500" y="4870450"/>
            <a:ext cx="2520950" cy="836613"/>
            <a:chOff x="3651" y="3113"/>
            <a:chExt cx="1588" cy="527"/>
          </a:xfrm>
        </p:grpSpPr>
        <p:pic>
          <p:nvPicPr>
            <p:cNvPr id="31752" name="Picture 6">
              <a:extLst>
                <a:ext uri="{FF2B5EF4-FFF2-40B4-BE49-F238E27FC236}">
                  <a16:creationId xmlns:a16="http://schemas.microsoft.com/office/drawing/2014/main" id="{6CD99EF2-968A-C27A-6755-43DDDF78C0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5250" b="-17708"/>
            <a:stretch>
              <a:fillRect/>
            </a:stretch>
          </p:blipFill>
          <p:spPr bwMode="auto">
            <a:xfrm>
              <a:off x="3651" y="3113"/>
              <a:ext cx="1361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3" name="Picture 7">
              <a:extLst>
                <a:ext uri="{FF2B5EF4-FFF2-40B4-BE49-F238E27FC236}">
                  <a16:creationId xmlns:a16="http://schemas.microsoft.com/office/drawing/2014/main" id="{40894882-0EA7-09F4-9AF0-3AC83693F6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80"/>
            <a:stretch>
              <a:fillRect/>
            </a:stretch>
          </p:blipFill>
          <p:spPr bwMode="auto">
            <a:xfrm>
              <a:off x="4105" y="3385"/>
              <a:ext cx="113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投影片編號版面配置區 5">
            <a:extLst>
              <a:ext uri="{FF2B5EF4-FFF2-40B4-BE49-F238E27FC236}">
                <a16:creationId xmlns:a16="http://schemas.microsoft.com/office/drawing/2014/main" id="{CA242454-CCB5-0A5A-93EA-56A932D46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3C5E2DC-F786-4C2F-AA07-E41C00AF98C2}" type="slidenum">
              <a:rPr kumimoji="1" lang="en-US" altLang="zh-TW">
                <a:latin typeface="Arial" panose="020B0604020202020204" pitchFamily="34" charset="0"/>
              </a:rPr>
              <a:pPr/>
              <a:t>55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BC880386-2F15-4C25-8722-81892EAACD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-cut of fuzzy relation</a:t>
            </a:r>
            <a:endParaRPr lang="en-US" altLang="zh-TW">
              <a:cs typeface="Times New Roman" panose="02020603050405020304" pitchFamily="18" charset="0"/>
            </a:endParaRPr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6EF1CE4A-1E32-60A2-8286-AFC8D1A75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2132013"/>
            <a:ext cx="4148138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5">
            <a:extLst>
              <a:ext uri="{FF2B5EF4-FFF2-40B4-BE49-F238E27FC236}">
                <a16:creationId xmlns:a16="http://schemas.microsoft.com/office/drawing/2014/main" id="{EFF43074-FA41-CD65-599B-D8E04985B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163" y="2132013"/>
            <a:ext cx="4146550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>
            <a:extLst>
              <a:ext uri="{FF2B5EF4-FFF2-40B4-BE49-F238E27FC236}">
                <a16:creationId xmlns:a16="http://schemas.microsoft.com/office/drawing/2014/main" id="{8D839151-A84C-F500-0A17-375DE1B29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1123950"/>
            <a:ext cx="16002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71"/>
          <p:cNvPicPr/>
          <p:nvPr/>
        </p:nvPicPr>
        <p:blipFill>
          <a:blip r:embed="rId2">
            <a:grayscl/>
            <a:lum contrast="50000"/>
          </a:blip>
          <a:stretch/>
        </p:blipFill>
        <p:spPr>
          <a:xfrm>
            <a:off x="-207359" y="819606"/>
            <a:ext cx="4353580" cy="4805854"/>
          </a:xfrm>
          <a:prstGeom prst="rect">
            <a:avLst/>
          </a:prstGeom>
          <a:ln w="0">
            <a:noFill/>
          </a:ln>
        </p:spPr>
      </p:pic>
      <p:pic>
        <p:nvPicPr>
          <p:cNvPr id="173" name="Picture 172"/>
          <p:cNvPicPr/>
          <p:nvPr/>
        </p:nvPicPr>
        <p:blipFill>
          <a:blip r:embed="rId3">
            <a:grayscl/>
            <a:lum contrast="50000"/>
          </a:blip>
          <a:stretch/>
        </p:blipFill>
        <p:spPr>
          <a:xfrm>
            <a:off x="4147200" y="1479240"/>
            <a:ext cx="5053706" cy="41462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73"/>
          <p:cNvPicPr/>
          <p:nvPr/>
        </p:nvPicPr>
        <p:blipFill>
          <a:blip r:embed="rId2">
            <a:grayscl/>
            <a:lum contrast="50000"/>
          </a:blip>
          <a:stretch/>
        </p:blipFill>
        <p:spPr>
          <a:xfrm>
            <a:off x="622080" y="1479240"/>
            <a:ext cx="7879027" cy="3893143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icture 198"/>
          <p:cNvPicPr/>
          <p:nvPr/>
        </p:nvPicPr>
        <p:blipFill>
          <a:blip r:embed="rId2">
            <a:lum contrast="50000"/>
          </a:blip>
          <a:stretch/>
        </p:blipFill>
        <p:spPr>
          <a:xfrm>
            <a:off x="274304" y="1064520"/>
            <a:ext cx="8641197" cy="31094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Picture 199"/>
          <p:cNvPicPr/>
          <p:nvPr/>
        </p:nvPicPr>
        <p:blipFill>
          <a:blip r:embed="rId2"/>
          <a:stretch/>
        </p:blipFill>
        <p:spPr>
          <a:xfrm>
            <a:off x="452274" y="2308680"/>
            <a:ext cx="8255867" cy="1865260"/>
          </a:xfrm>
          <a:prstGeom prst="rect">
            <a:avLst/>
          </a:prstGeom>
          <a:ln w="0">
            <a:noFill/>
          </a:ln>
        </p:spPr>
      </p:pic>
      <p:pic>
        <p:nvPicPr>
          <p:cNvPr id="201" name="Picture 200"/>
          <p:cNvPicPr/>
          <p:nvPr/>
        </p:nvPicPr>
        <p:blipFill>
          <a:blip r:embed="rId3">
            <a:lum contrast="40000"/>
          </a:blip>
          <a:stretch/>
        </p:blipFill>
        <p:spPr>
          <a:xfrm>
            <a:off x="503869" y="1271880"/>
            <a:ext cx="7167472" cy="6211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201"/>
          <p:cNvPicPr/>
          <p:nvPr/>
        </p:nvPicPr>
        <p:blipFill>
          <a:blip r:embed="rId2">
            <a:lum contrast="50000"/>
          </a:blip>
          <a:stretch/>
        </p:blipFill>
        <p:spPr>
          <a:xfrm>
            <a:off x="2488647" y="1893960"/>
            <a:ext cx="6426854" cy="470560"/>
          </a:xfrm>
          <a:prstGeom prst="rect">
            <a:avLst/>
          </a:prstGeom>
          <a:ln w="0">
            <a:noFill/>
          </a:ln>
        </p:spPr>
      </p:pic>
      <p:pic>
        <p:nvPicPr>
          <p:cNvPr id="203" name="Picture 202"/>
          <p:cNvPicPr/>
          <p:nvPr/>
        </p:nvPicPr>
        <p:blipFill>
          <a:blip r:embed="rId3">
            <a:lum bright="5000" contrast="-10000"/>
          </a:blip>
          <a:stretch/>
        </p:blipFill>
        <p:spPr>
          <a:xfrm>
            <a:off x="414720" y="926715"/>
            <a:ext cx="1674881" cy="490610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203"/>
          <p:cNvSpPr/>
          <p:nvPr/>
        </p:nvSpPr>
        <p:spPr>
          <a:xfrm>
            <a:off x="1658881" y="1064520"/>
            <a:ext cx="3731500" cy="3131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33" spc="-1">
                <a:solidFill>
                  <a:srgbClr val="000000"/>
                </a:solidFill>
                <a:latin typeface="Arial"/>
                <a:ea typeface="DejaVu Sans"/>
              </a:rPr>
              <a:t>Combining two we can make </a:t>
            </a:r>
            <a:endParaRPr lang="en-US" sz="1633" spc="-1">
              <a:latin typeface="Arial"/>
            </a:endParaRPr>
          </a:p>
        </p:txBody>
      </p:sp>
      <p:pic>
        <p:nvPicPr>
          <p:cNvPr id="205" name="Picture 204"/>
          <p:cNvPicPr/>
          <p:nvPr/>
        </p:nvPicPr>
        <p:blipFill>
          <a:blip r:embed="rId2">
            <a:lum contrast="50000"/>
          </a:blip>
          <a:stretch/>
        </p:blipFill>
        <p:spPr>
          <a:xfrm>
            <a:off x="409496" y="1893960"/>
            <a:ext cx="2492565" cy="3112686"/>
          </a:xfrm>
          <a:prstGeom prst="rect">
            <a:avLst/>
          </a:prstGeom>
          <a:ln w="0">
            <a:noFill/>
          </a:ln>
        </p:spPr>
      </p:pic>
      <p:sp>
        <p:nvSpPr>
          <p:cNvPr id="206" name="Arrow: Right 205"/>
          <p:cNvSpPr/>
          <p:nvPr/>
        </p:nvSpPr>
        <p:spPr>
          <a:xfrm>
            <a:off x="3317761" y="3967560"/>
            <a:ext cx="621100" cy="413740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07" name="Picture 206"/>
          <p:cNvPicPr/>
          <p:nvPr/>
        </p:nvPicPr>
        <p:blipFill>
          <a:blip r:embed="rId3">
            <a:lum contrast="50000"/>
          </a:blip>
          <a:stretch/>
        </p:blipFill>
        <p:spPr>
          <a:xfrm>
            <a:off x="4934842" y="1479240"/>
            <a:ext cx="3358579" cy="3534917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7"/>
          <p:cNvPicPr/>
          <p:nvPr/>
        </p:nvPicPr>
        <p:blipFill>
          <a:blip r:embed="rId2">
            <a:lum contrast="-5000"/>
          </a:blip>
          <a:stretch/>
        </p:blipFill>
        <p:spPr>
          <a:xfrm>
            <a:off x="1244161" y="649800"/>
            <a:ext cx="6634540" cy="51830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208"/>
          <p:cNvPicPr/>
          <p:nvPr/>
        </p:nvPicPr>
        <p:blipFill>
          <a:blip r:embed="rId2">
            <a:lum contrast="50000"/>
          </a:blip>
          <a:stretch/>
        </p:blipFill>
        <p:spPr>
          <a:xfrm>
            <a:off x="1639614" y="1271880"/>
            <a:ext cx="3958127" cy="845441"/>
          </a:xfrm>
          <a:prstGeom prst="rect">
            <a:avLst/>
          </a:prstGeom>
          <a:ln w="0">
            <a:noFill/>
          </a:ln>
        </p:spPr>
      </p:pic>
      <p:sp>
        <p:nvSpPr>
          <p:cNvPr id="210" name="Rectangle 209"/>
          <p:cNvSpPr/>
          <p:nvPr/>
        </p:nvSpPr>
        <p:spPr>
          <a:xfrm>
            <a:off x="829441" y="2723400"/>
            <a:ext cx="6841900" cy="19384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33" spc="-1">
                <a:solidFill>
                  <a:srgbClr val="000000"/>
                </a:solidFill>
                <a:latin typeface="Arial"/>
                <a:ea typeface="DejaVu Sans"/>
              </a:rPr>
              <a:t>Suppose, we have z= 9.</a:t>
            </a:r>
            <a:endParaRPr lang="en-US" sz="1633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33" spc="-1">
                <a:solidFill>
                  <a:srgbClr val="000000"/>
                </a:solidFill>
                <a:latin typeface="Arial"/>
                <a:ea typeface="DejaVu Sans"/>
              </a:rPr>
              <a:t>There are multiple ways to get z= 9; </a:t>
            </a:r>
            <a:endParaRPr lang="en-US" sz="1633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33" spc="-1">
                <a:solidFill>
                  <a:srgbClr val="000000"/>
                </a:solidFill>
                <a:latin typeface="Arial"/>
                <a:ea typeface="DejaVu Sans"/>
              </a:rPr>
              <a:t>adding y=8, and x=1 ,</a:t>
            </a:r>
            <a:endParaRPr lang="en-US" sz="1633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33" spc="-1">
                <a:solidFill>
                  <a:srgbClr val="000000"/>
                </a:solidFill>
                <a:latin typeface="Arial"/>
                <a:ea typeface="DejaVu Sans"/>
              </a:rPr>
              <a:t>adding y=7, and x=2 ,</a:t>
            </a:r>
            <a:endParaRPr lang="en-US" sz="1633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33" spc="-1">
                <a:solidFill>
                  <a:srgbClr val="000000"/>
                </a:solidFill>
                <a:latin typeface="Arial"/>
                <a:ea typeface="DejaVu Sans"/>
              </a:rPr>
              <a:t>adding y=6, and x=3 ,</a:t>
            </a:r>
            <a:endParaRPr lang="en-US" sz="1633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33" spc="-1">
                <a:solidFill>
                  <a:srgbClr val="000000"/>
                </a:solidFill>
                <a:latin typeface="Arial"/>
                <a:ea typeface="DejaVu Sans"/>
              </a:rPr>
              <a:t>adding y=7, and x=2 ,</a:t>
            </a:r>
            <a:endParaRPr lang="en-US" sz="1633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33" spc="-1">
                <a:solidFill>
                  <a:srgbClr val="000000"/>
                </a:solidFill>
                <a:latin typeface="Arial"/>
                <a:ea typeface="DejaVu Sans"/>
              </a:rPr>
              <a:t>adding y=8, and x=1 </a:t>
            </a:r>
            <a:endParaRPr lang="en-US" sz="1633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633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Picture 210"/>
          <p:cNvPicPr/>
          <p:nvPr/>
        </p:nvPicPr>
        <p:blipFill>
          <a:blip r:embed="rId2">
            <a:lum contrast="53000"/>
          </a:blip>
          <a:stretch/>
        </p:blipFill>
        <p:spPr>
          <a:xfrm>
            <a:off x="1244161" y="649800"/>
            <a:ext cx="6634540" cy="5183020"/>
          </a:xfrm>
          <a:prstGeom prst="rect">
            <a:avLst/>
          </a:prstGeom>
          <a:ln w="0">
            <a:noFill/>
          </a:ln>
        </p:spPr>
      </p:pic>
      <p:sp>
        <p:nvSpPr>
          <p:cNvPr id="212" name="Oval 211"/>
          <p:cNvSpPr/>
          <p:nvPr/>
        </p:nvSpPr>
        <p:spPr>
          <a:xfrm rot="19300200">
            <a:off x="727883" y="3010439"/>
            <a:ext cx="6637479" cy="621100"/>
          </a:xfrm>
          <a:prstGeom prst="ellipse">
            <a:avLst/>
          </a:pr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Picture 217"/>
          <p:cNvPicPr/>
          <p:nvPr/>
        </p:nvPicPr>
        <p:blipFill>
          <a:blip r:embed="rId2">
            <a:lum contrast="50000"/>
          </a:blip>
          <a:stretch/>
        </p:blipFill>
        <p:spPr>
          <a:xfrm>
            <a:off x="0" y="1271880"/>
            <a:ext cx="9053305" cy="22799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3031</TotalTime>
  <Words>1309</Words>
  <Application>Microsoft Office PowerPoint</Application>
  <PresentationFormat>On-screen Show (4:3)</PresentationFormat>
  <Paragraphs>255</Paragraphs>
  <Slides>65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6" baseType="lpstr">
      <vt:lpstr>新細明體</vt:lpstr>
      <vt:lpstr>Arial</vt:lpstr>
      <vt:lpstr>Calibri</vt:lpstr>
      <vt:lpstr>Calibri Light</vt:lpstr>
      <vt:lpstr>Cambria Math</vt:lpstr>
      <vt:lpstr>Times</vt:lpstr>
      <vt:lpstr>Times New Roman</vt:lpstr>
      <vt:lpstr>Wingdings</vt:lpstr>
      <vt:lpstr>Retrospect</vt:lpstr>
      <vt:lpstr>Equation</vt:lpstr>
      <vt:lpstr>Picture</vt:lpstr>
      <vt:lpstr>PowerPoint Presentation</vt:lpstr>
      <vt:lpstr>Boolean Logic/ Traditional</vt:lpstr>
      <vt:lpstr>Traditional (crisp) logic</vt:lpstr>
      <vt:lpstr>Traditional (crisp) logic</vt:lpstr>
      <vt:lpstr>PowerPoint Presentation</vt:lpstr>
      <vt:lpstr>Fuzzy Logic</vt:lpstr>
      <vt:lpstr>Crisp Logic</vt:lpstr>
      <vt:lpstr>Fuzzy Set</vt:lpstr>
      <vt:lpstr>Difference between Fuzzy and Crisp Set</vt:lpstr>
      <vt:lpstr>Crisp vs. Fuzzy Sets</vt:lpstr>
      <vt:lpstr>Membership function</vt:lpstr>
      <vt:lpstr>Fuzzy Sets</vt:lpstr>
      <vt:lpstr>Membership function</vt:lpstr>
      <vt:lpstr>Various type of Membership Function</vt:lpstr>
      <vt:lpstr>Fuzzy Representation</vt:lpstr>
      <vt:lpstr>Fuzzy Set Representation</vt:lpstr>
      <vt:lpstr>Fuzzy Representation</vt:lpstr>
      <vt:lpstr>Empty Fuzzy Set</vt:lpstr>
      <vt:lpstr>Normal Fuzzy Set</vt:lpstr>
      <vt:lpstr>Fuzzy operations</vt:lpstr>
      <vt:lpstr>Union</vt:lpstr>
      <vt:lpstr>Intersection</vt:lpstr>
      <vt:lpstr>Complement</vt:lpstr>
      <vt:lpstr>Multiplying a Fuzzy Set by a Crisp Number</vt:lpstr>
      <vt:lpstr>Operations of Fuzzy Sets</vt:lpstr>
      <vt:lpstr>Properties of Fuzzy Sets</vt:lpstr>
      <vt:lpstr>Alpha-cut</vt:lpstr>
      <vt:lpstr>Alpha Cut</vt:lpstr>
      <vt:lpstr>Alpha Cut</vt:lpstr>
      <vt:lpstr>Fuzzy operations example</vt:lpstr>
      <vt:lpstr>Product set</vt:lpstr>
      <vt:lpstr>Product set</vt:lpstr>
      <vt:lpstr>Product set</vt:lpstr>
      <vt:lpstr>Crisp relation</vt:lpstr>
      <vt:lpstr>Fuzzy relation</vt:lpstr>
      <vt:lpstr>Representation methods</vt:lpstr>
      <vt:lpstr>Representation methods</vt:lpstr>
      <vt:lpstr>Operations on fuzzy matrices</vt:lpstr>
      <vt:lpstr>Operations on fuzzy matrices</vt:lpstr>
      <vt:lpstr>Max product</vt:lpstr>
      <vt:lpstr>Max product</vt:lpstr>
      <vt:lpstr>Max product</vt:lpstr>
      <vt:lpstr>Operations on fuzzy matrices</vt:lpstr>
      <vt:lpstr>Operations on fuzzy relations</vt:lpstr>
      <vt:lpstr>Union relation</vt:lpstr>
      <vt:lpstr>Operations on fuzzy relations</vt:lpstr>
      <vt:lpstr>Intersection relation</vt:lpstr>
      <vt:lpstr>Operations on fuzzy relations</vt:lpstr>
      <vt:lpstr>Composition of fuzzy relations</vt:lpstr>
      <vt:lpstr>Composition of fuzzy relations</vt:lpstr>
      <vt:lpstr>Composition of fuzzy relations</vt:lpstr>
      <vt:lpstr>Composition of fuzzy relations</vt:lpstr>
      <vt:lpstr>Composition of fuzzy relations</vt:lpstr>
      <vt:lpstr>α-cut of fuzzy relation</vt:lpstr>
      <vt:lpstr>α-cut of fuzzy relation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Models</dc:title>
  <dc:subject/>
  <dc:creator>Windows User</dc:creator>
  <dc:description/>
  <cp:lastModifiedBy>Tamim Hossain</cp:lastModifiedBy>
  <cp:revision>392</cp:revision>
  <dcterms:created xsi:type="dcterms:W3CDTF">2019-09-07T16:21:10Z</dcterms:created>
  <dcterms:modified xsi:type="dcterms:W3CDTF">2024-07-13T05:16:21Z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35</vt:i4>
  </property>
</Properties>
</file>